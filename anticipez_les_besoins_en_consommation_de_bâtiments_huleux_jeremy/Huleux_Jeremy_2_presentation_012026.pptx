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899" autoAdjust="0"/>
  </p:normalViewPr>
  <p:slideViewPr>
    <p:cSldViewPr snapToGrid="0">
      <p:cViewPr varScale="1">
        <p:scale>
          <a:sx n="127" d="100"/>
          <a:sy n="127" d="100"/>
        </p:scale>
        <p:origin x="15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D2496-A7C4-43E4-80BA-D53435F3917B}" type="datetimeFigureOut">
              <a:rPr lang="fr-FR" smtClean="0"/>
              <a:t>27/01/2026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2F40A-67A5-46CC-8E52-2D754D200458}" type="slidenum">
              <a:rPr lang="fr-FR" smtClean="0"/>
              <a:t>‹N°›</a:t>
            </a:fld>
            <a:endParaRPr lang="fr-FR"/>
          </a:p>
        </p:txBody>
      </p:sp>
    </p:spTree>
    <p:extLst>
      <p:ext uri="{BB962C8B-B14F-4D97-AF65-F5344CB8AC3E}">
        <p14:creationId xmlns:p14="http://schemas.microsoft.com/office/powerpoint/2010/main" val="124509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à tous. Je vous présente aujourd'hui mon projet sur la prédiction énergétique. L'objectif est de construire une solution complète d'ingénierie des données : partir d'un fichier CSV sale pour arriver à une API disponible sur Internet via Google Cloud. Nous allons parcourir ensemble les étapes de nettoyage, de modélisation, et surtout d'industrialisation.</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1</a:t>
            </a:fld>
            <a:endParaRPr lang="fr-FR"/>
          </a:p>
        </p:txBody>
      </p:sp>
    </p:spTree>
    <p:extLst>
      <p:ext uri="{BB962C8B-B14F-4D97-AF65-F5344CB8AC3E}">
        <p14:creationId xmlns:p14="http://schemas.microsoft.com/office/powerpoint/2010/main" val="2451814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Tout commence par un besoin métier : la ville de Seattle veut réduire son empreinte carbone. Le problème, c'est que mesurer la consommation réelle coûte cher. Ma mission est de prédire la variable 'SiteEnergyUse(kBtu)' en utilisant uniquement des infos faciles à obtenir comme la surface du bâtiment ou son année de construction. Cela permettra à la ville de cibler les mauvais élèves sans envoyer de techniciens sur place.</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2</a:t>
            </a:fld>
            <a:endParaRPr lang="fr-FR"/>
          </a:p>
        </p:txBody>
      </p:sp>
    </p:spTree>
    <p:extLst>
      <p:ext uri="{BB962C8B-B14F-4D97-AF65-F5344CB8AC3E}">
        <p14:creationId xmlns:p14="http://schemas.microsoft.com/office/powerpoint/2010/main" val="3376311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Avant de faire du Machine Learning, j'ai dû nettoyer les données. J'ai filtré le dataset pour ne garder que les bâtiments non-résidentiels, conformément à la demande. J'ai pris une décision critique ici : j'ai supprimé toutes les lignes où la consommation était inconnue, car on ne peut pas entraîner un modèle sur du vide. J'ai aussi créé la variable 'BuildingAge' et surtout, j'ai appliqué un Logarithme sur la cible pour normaliser la distribution des données, qui était très étalée.</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3</a:t>
            </a:fld>
            <a:endParaRPr lang="fr-FR"/>
          </a:p>
        </p:txBody>
      </p:sp>
    </p:spTree>
    <p:extLst>
      <p:ext uri="{BB962C8B-B14F-4D97-AF65-F5344CB8AC3E}">
        <p14:creationId xmlns:p14="http://schemas.microsoft.com/office/powerpoint/2010/main" val="546657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la modélisation, j'ai d'abord établi une 'Baseline' avec une Régression Linéaire simple, mais les résultats n'étaient pas suffisants pour capturer la complexité des données. Je me suis donc orienté vers le </a:t>
            </a:r>
            <a:r>
              <a:rPr lang="fr-FR" dirty="0" err="1"/>
              <a:t>Random</a:t>
            </a:r>
            <a:r>
              <a:rPr lang="fr-FR" dirty="0"/>
              <a:t> Forest. J'ai optimisé ce modèle via une </a:t>
            </a:r>
            <a:r>
              <a:rPr lang="fr-FR" dirty="0" err="1"/>
              <a:t>GridSearch</a:t>
            </a:r>
            <a:r>
              <a:rPr lang="fr-FR" dirty="0"/>
              <a:t> pour ajuster le nombre d'arbres et la profondeur. C'est ce modèle qui offrait le meilleur score R² tout en restant robuste. Tout cela est encapsulé dans un Pipeline </a:t>
            </a:r>
            <a:r>
              <a:rPr lang="fr-FR" dirty="0" err="1"/>
              <a:t>Scikit-Learn</a:t>
            </a:r>
            <a:r>
              <a:rPr lang="fr-FR" dirty="0"/>
              <a:t> qui gère automatiquement l'encodage des quartiers et la mise à l'échelle des surfaces.</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4</a:t>
            </a:fld>
            <a:endParaRPr lang="fr-FR"/>
          </a:p>
        </p:txBody>
      </p:sp>
    </p:spTree>
    <p:extLst>
      <p:ext uri="{BB962C8B-B14F-4D97-AF65-F5344CB8AC3E}">
        <p14:creationId xmlns:p14="http://schemas.microsoft.com/office/powerpoint/2010/main" val="2029913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 point fort de ce projet est la structuration. Je ne suis pas resté dans un Notebook Jupyter. J'ai découplé la logique en scripts distincts : un pour nettoyer, un pour entraîner. J'ai aussi utilisé Poetry pour gérer mes dépendances. Cela garantit que si vous lancez mon projet demain sur votre machine, il fonctionnera exactement comme sur la mienne, sans conflit de versions.</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5</a:t>
            </a:fld>
            <a:endParaRPr lang="fr-FR"/>
          </a:p>
        </p:txBody>
      </p:sp>
    </p:spTree>
    <p:extLst>
      <p:ext uri="{BB962C8B-B14F-4D97-AF65-F5344CB8AC3E}">
        <p14:creationId xmlns:p14="http://schemas.microsoft.com/office/powerpoint/2010/main" val="1471176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servir ce modèle, j'ai utilisé BentoML. C'est un framework puissant dédié au MLOps. J'ai défini un endpoint '/predict' qui reçoit les caractéristiques du bâtiment. Une subtilité importante : comme mon modèle a appris sur des données logarithmiques, l'API applique la fonction exponentielle (expm1) sur le résultat avant de le renvoyer, pour que l'utilisateur voie des vrais kBtu.</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6</a:t>
            </a:fld>
            <a:endParaRPr lang="fr-FR"/>
          </a:p>
        </p:txBody>
      </p:sp>
    </p:spTree>
    <p:extLst>
      <p:ext uri="{BB962C8B-B14F-4D97-AF65-F5344CB8AC3E}">
        <p14:creationId xmlns:p14="http://schemas.microsoft.com/office/powerpoint/2010/main" val="941628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L'étape suivante a été d'enfermer cette API dans une boîte hermétique : un conteneur Docker. BentoML facilite énormément cela : il génère le Dockerfile pour nous. Le résultat est une image Docker autonome. Je peux la lancer sur mon PC, sur un serveur Linux ou dans le Cloud, elle fonctionnera toujours de la même façon.</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7</a:t>
            </a:fld>
            <a:endParaRPr lang="fr-FR"/>
          </a:p>
        </p:txBody>
      </p:sp>
    </p:spTree>
    <p:extLst>
      <p:ext uri="{BB962C8B-B14F-4D97-AF65-F5344CB8AC3E}">
        <p14:creationId xmlns:p14="http://schemas.microsoft.com/office/powerpoint/2010/main" val="3566842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arrivons à la partie Cloud sur GCP. La première étape a été de stocker mon image. J'ai créé un 'Artifact Registry' sur Google Cloud, qui est une sorte de garage privé pour mes conteneurs. J'ai tagué mon image locale et je l'ai poussée vers ce registre. À ce stade, mon application est dans les serveurs de Google, prête à être déployée.</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8</a:t>
            </a:fld>
            <a:endParaRPr lang="fr-FR"/>
          </a:p>
        </p:txBody>
      </p:sp>
    </p:spTree>
    <p:extLst>
      <p:ext uri="{BB962C8B-B14F-4D97-AF65-F5344CB8AC3E}">
        <p14:creationId xmlns:p14="http://schemas.microsoft.com/office/powerpoint/2010/main" val="4043624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l'exécution, j'ai choisi Google Cloud Run. C'est du 'Serverless' : je ne gère pas de machine, Google alloue les ressources à la demande. Le point technique crucial ici a été la configuration du Port 3000. Par défaut, Google écoute le 8080, mais BentoML utilise le 3000. J'ai dû forcer ce paramétrage. J'ai aussi alloué 2Go de RAM pour assurer que le modèle RandomForest charge rapidement en mémoire.</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9</a:t>
            </a:fld>
            <a:endParaRPr lang="fr-FR"/>
          </a:p>
        </p:txBody>
      </p:sp>
    </p:spTree>
    <p:extLst>
      <p:ext uri="{BB962C8B-B14F-4D97-AF65-F5344CB8AC3E}">
        <p14:creationId xmlns:p14="http://schemas.microsoft.com/office/powerpoint/2010/main" val="4060175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conclusion, ce projet m'a permis de valider des compétences clés de Data </a:t>
            </a:r>
            <a:r>
              <a:rPr lang="fr-FR" dirty="0" err="1"/>
              <a:t>Engineer</a:t>
            </a:r>
            <a:r>
              <a:rPr lang="fr-FR" dirty="0"/>
              <a:t>. J'ai réussi à transformer un modèle mathématique en un produit logiciel utilisable. L'infrastructure sur Google Cloud est solide et scalable. La prochaine étape logique serait d'automatiser tout ce déploiement via GitHub Actions pour que chaque modification du code mette à jour l'API automatiquement.</a:t>
            </a:r>
          </a:p>
          <a:p>
            <a:endParaRPr lang="fr-FR" dirty="0"/>
          </a:p>
          <a:p>
            <a:r>
              <a:rPr lang="fr-FR" dirty="0"/>
              <a:t>https://seattle-api-service-844511203841.europe-west9.run.app</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10</a:t>
            </a:fld>
            <a:endParaRPr lang="fr-FR"/>
          </a:p>
        </p:txBody>
      </p:sp>
    </p:spTree>
    <p:extLst>
      <p:ext uri="{BB962C8B-B14F-4D97-AF65-F5344CB8AC3E}">
        <p14:creationId xmlns:p14="http://schemas.microsoft.com/office/powerpoint/2010/main" val="456526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fr-FR"/>
              <a:t>Modifiez le style du titre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7" name="Date Placeholder 6"/>
          <p:cNvSpPr>
            <a:spLocks noGrp="1"/>
          </p:cNvSpPr>
          <p:nvPr>
            <p:ph type="dt" sz="half" idx="10"/>
          </p:nvPr>
        </p:nvSpPr>
        <p:spPr/>
        <p:txBody>
          <a:bodyPr/>
          <a:lstStyle/>
          <a:p>
            <a:fld id="{9CFC768B-AA64-4B21-971D-36965716BC8A}" type="datetimeFigureOut">
              <a:rPr lang="fr-FR" smtClean="0"/>
              <a:t>27/01/2026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11542454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CFC768B-AA64-4B21-971D-36965716BC8A}" type="datetimeFigureOut">
              <a:rPr lang="fr-FR" smtClean="0"/>
              <a:t>27/01/2026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1987312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fr-FR"/>
              <a:t>Modifiez le style du titre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Date Placeholder 6"/>
          <p:cNvSpPr>
            <a:spLocks noGrp="1"/>
          </p:cNvSpPr>
          <p:nvPr>
            <p:ph type="dt" sz="half" idx="10"/>
          </p:nvPr>
        </p:nvSpPr>
        <p:spPr/>
        <p:txBody>
          <a:bodyPr/>
          <a:lstStyle/>
          <a:p>
            <a:fld id="{9CFC768B-AA64-4B21-971D-36965716BC8A}" type="datetimeFigureOut">
              <a:rPr lang="fr-FR" smtClean="0"/>
              <a:t>27/01/2026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158901857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Date Placeholder 7"/>
          <p:cNvSpPr>
            <a:spLocks noGrp="1"/>
          </p:cNvSpPr>
          <p:nvPr>
            <p:ph type="dt" sz="half" idx="10"/>
          </p:nvPr>
        </p:nvSpPr>
        <p:spPr/>
        <p:txBody>
          <a:bodyPr/>
          <a:lstStyle/>
          <a:p>
            <a:fld id="{9CFC768B-AA64-4B21-971D-36965716BC8A}" type="datetimeFigureOut">
              <a:rPr lang="fr-FR" smtClean="0"/>
              <a:t>27/01/2026</a:t>
            </a:fld>
            <a:endParaRPr lang="fr-FR"/>
          </a:p>
        </p:txBody>
      </p:sp>
      <p:sp>
        <p:nvSpPr>
          <p:cNvPr id="9" name="Footer Placeholder 8"/>
          <p:cNvSpPr>
            <a:spLocks noGrp="1"/>
          </p:cNvSpPr>
          <p:nvPr>
            <p:ph type="ftr" sz="quarter" idx="11"/>
          </p:nvPr>
        </p:nvSpPr>
        <p:spPr/>
        <p:txBody>
          <a:bodyPr/>
          <a:lstStyle/>
          <a:p>
            <a:endParaRPr lang="fr-FR"/>
          </a:p>
        </p:txBody>
      </p:sp>
      <p:sp>
        <p:nvSpPr>
          <p:cNvPr id="10" name="Slide Number Placeholder 9"/>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3575219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583436" y="3143250"/>
            <a:ext cx="4270248" cy="25967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7" name="Date Placeholder 6"/>
          <p:cNvSpPr>
            <a:spLocks noGrp="1"/>
          </p:cNvSpPr>
          <p:nvPr>
            <p:ph type="dt" sz="half" idx="10"/>
          </p:nvPr>
        </p:nvSpPr>
        <p:spPr/>
        <p:txBody>
          <a:bodyPr/>
          <a:lstStyle/>
          <a:p>
            <a:fld id="{9CFC768B-AA64-4B21-971D-36965716BC8A}" type="datetimeFigureOut">
              <a:rPr lang="fr-FR" smtClean="0"/>
              <a:t>27/01/2026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46F2220-2D06-4FD9-A09A-12105C9EBD27}" type="slidenum">
              <a:rPr lang="fr-FR" smtClean="0"/>
              <a:t>‹N°›</a:t>
            </a:fld>
            <a:endParaRPr lang="fr-FR"/>
          </a:p>
        </p:txBody>
      </p:sp>
      <p:sp>
        <p:nvSpPr>
          <p:cNvPr id="10" name="Title 9"/>
          <p:cNvSpPr>
            <a:spLocks noGrp="1"/>
          </p:cNvSpPr>
          <p:nvPr>
            <p:ph type="title"/>
          </p:nvPr>
        </p:nvSpPr>
        <p:spPr/>
        <p:txBody>
          <a:bodyPr/>
          <a:lstStyle/>
          <a:p>
            <a:r>
              <a:rPr lang="fr-FR"/>
              <a:t>Modifiez le style du titre</a:t>
            </a:r>
            <a:endParaRPr lang="en-US" dirty="0"/>
          </a:p>
        </p:txBody>
      </p:sp>
    </p:spTree>
    <p:extLst>
      <p:ext uri="{BB962C8B-B14F-4D97-AF65-F5344CB8AC3E}">
        <p14:creationId xmlns:p14="http://schemas.microsoft.com/office/powerpoint/2010/main" val="1944791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CFC768B-AA64-4B21-971D-36965716BC8A}" type="datetimeFigureOut">
              <a:rPr lang="fr-FR" smtClean="0"/>
              <a:t>27/01/2026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3618045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FC768B-AA64-4B21-971D-36965716BC8A}" type="datetimeFigureOut">
              <a:rPr lang="fr-FR" smtClean="0"/>
              <a:t>27/01/2026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3797967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fr-FR"/>
              <a:t>Modifiez le style du titre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9" name="Date Placeholder 8"/>
          <p:cNvSpPr>
            <a:spLocks noGrp="1"/>
          </p:cNvSpPr>
          <p:nvPr>
            <p:ph type="dt" sz="half" idx="10"/>
          </p:nvPr>
        </p:nvSpPr>
        <p:spPr/>
        <p:txBody>
          <a:bodyPr/>
          <a:lstStyle/>
          <a:p>
            <a:fld id="{9CFC768B-AA64-4B21-971D-36965716BC8A}" type="datetimeFigureOut">
              <a:rPr lang="fr-FR" smtClean="0"/>
              <a:t>27/01/2026</a:t>
            </a:fld>
            <a:endParaRPr lang="fr-FR"/>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fr-FR"/>
          </a:p>
        </p:txBody>
      </p:sp>
      <p:sp>
        <p:nvSpPr>
          <p:cNvPr id="11" name="Slide Number Placeholder 10"/>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964234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9CFC768B-AA64-4B21-971D-36965716BC8A}" type="datetimeFigureOut">
              <a:rPr lang="fr-FR" smtClean="0"/>
              <a:t>27/01/2026</a:t>
            </a:fld>
            <a:endParaRPr lang="fr-FR"/>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fr-FR"/>
          </a:p>
        </p:txBody>
      </p:sp>
      <p:sp>
        <p:nvSpPr>
          <p:cNvPr id="10" name="Slide Number Placeholder 9"/>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3011654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CFC768B-AA64-4B21-971D-36965716BC8A}" type="datetimeFigureOut">
              <a:rPr lang="fr-FR" smtClean="0"/>
              <a:t>27/01/2026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2146528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CFC768B-AA64-4B21-971D-36965716BC8A}" type="datetimeFigureOut">
              <a:rPr lang="fr-FR" smtClean="0"/>
              <a:t>27/01/2026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2843352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re et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8D759B-53F9-448A-3228-CD73FF4262F0}"/>
              </a:ext>
            </a:extLst>
          </p:cNvPr>
          <p:cNvSpPr>
            <a:spLocks noGrp="1"/>
          </p:cNvSpPr>
          <p:nvPr>
            <p:ph type="title"/>
          </p:nvPr>
        </p:nvSpPr>
        <p:spPr/>
        <p:txBody>
          <a:bodyPr/>
          <a:lstStyle/>
          <a:p>
            <a:r>
              <a:rPr lang="fr-FR"/>
              <a:t>Modifiez le style du titre</a:t>
            </a:r>
          </a:p>
        </p:txBody>
      </p:sp>
      <p:sp>
        <p:nvSpPr>
          <p:cNvPr id="3" name="Espace réservé du texte 2">
            <a:extLst>
              <a:ext uri="{FF2B5EF4-FFF2-40B4-BE49-F238E27FC236}">
                <a16:creationId xmlns:a16="http://schemas.microsoft.com/office/drawing/2014/main" id="{02000662-C4FB-0E74-2CCE-F441D4B8722E}"/>
              </a:ext>
            </a:extLst>
          </p:cNvPr>
          <p:cNvSpPr>
            <a:spLocks noGrp="1"/>
          </p:cNvSpPr>
          <p:nvPr>
            <p:ph type="body"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7EC5E35-BA55-F264-460A-531528841106}"/>
              </a:ext>
            </a:extLst>
          </p:cNvPr>
          <p:cNvSpPr>
            <a:spLocks noGrp="1"/>
          </p:cNvSpPr>
          <p:nvPr>
            <p:ph type="dt" sz="half" idx="10"/>
          </p:nvPr>
        </p:nvSpPr>
        <p:spPr/>
        <p:txBody>
          <a:bodyPr/>
          <a:lstStyle/>
          <a:p>
            <a:fld id="{9CFC768B-AA64-4B21-971D-36965716BC8A}" type="datetimeFigureOut">
              <a:rPr lang="fr-FR" smtClean="0"/>
              <a:t>27/01/2026</a:t>
            </a:fld>
            <a:endParaRPr lang="fr-FR"/>
          </a:p>
        </p:txBody>
      </p:sp>
      <p:sp>
        <p:nvSpPr>
          <p:cNvPr id="5" name="Espace réservé du pied de page 4">
            <a:extLst>
              <a:ext uri="{FF2B5EF4-FFF2-40B4-BE49-F238E27FC236}">
                <a16:creationId xmlns:a16="http://schemas.microsoft.com/office/drawing/2014/main" id="{C38FCEB1-059A-F242-B55F-4EC6F0B36AD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2644017-6583-DF53-CD3A-C7422242BE41}"/>
              </a:ext>
            </a:extLst>
          </p:cNvPr>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1008278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9CFC768B-AA64-4B21-971D-36965716BC8A}" type="datetimeFigureOut">
              <a:rPr lang="fr-FR" smtClean="0"/>
              <a:t>27/01/2026</a:t>
            </a:fld>
            <a:endParaRPr lang="fr-FR"/>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fr-FR"/>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46F2220-2D06-4FD9-A09A-12105C9EBD27}" type="slidenum">
              <a:rPr lang="fr-FR" smtClean="0"/>
              <a:t>‹N°›</a:t>
            </a:fld>
            <a:endParaRPr lang="fr-FR"/>
          </a:p>
        </p:txBody>
      </p:sp>
    </p:spTree>
    <p:extLst>
      <p:ext uri="{BB962C8B-B14F-4D97-AF65-F5344CB8AC3E}">
        <p14:creationId xmlns:p14="http://schemas.microsoft.com/office/powerpoint/2010/main" val="383029735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8F210-2FC6-5199-30E1-E9BEBA872C33}"/>
              </a:ext>
            </a:extLst>
          </p:cNvPr>
          <p:cNvSpPr>
            <a:spLocks noGrp="1"/>
          </p:cNvSpPr>
          <p:nvPr>
            <p:ph type="title"/>
          </p:nvPr>
        </p:nvSpPr>
        <p:spPr/>
        <p:txBody>
          <a:bodyPr/>
          <a:lstStyle/>
          <a:p>
            <a:r>
              <a:rPr lang="fr-FR"/>
              <a:t>Projet 6 : Prédiction de la Consommation Électrique</a:t>
            </a:r>
          </a:p>
        </p:txBody>
      </p:sp>
      <p:sp>
        <p:nvSpPr>
          <p:cNvPr id="3" name="Espace réservé du texte 2">
            <a:extLst>
              <a:ext uri="{FF2B5EF4-FFF2-40B4-BE49-F238E27FC236}">
                <a16:creationId xmlns:a16="http://schemas.microsoft.com/office/drawing/2014/main" id="{E45617F0-3863-D849-B421-1EF41DED9CB7}"/>
              </a:ext>
            </a:extLst>
          </p:cNvPr>
          <p:cNvSpPr>
            <a:spLocks noGrp="1"/>
          </p:cNvSpPr>
          <p:nvPr>
            <p:ph type="body" idx="1"/>
          </p:nvPr>
        </p:nvSpPr>
        <p:spPr/>
        <p:txBody>
          <a:bodyPr>
            <a:normAutofit fontScale="92500" lnSpcReduction="10000"/>
          </a:bodyPr>
          <a:lstStyle/>
          <a:p>
            <a:pPr marL="0" indent="0">
              <a:buNone/>
            </a:pPr>
            <a:r>
              <a:rPr lang="fr-FR" b="1" dirty="0"/>
              <a:t>Candidat : </a:t>
            </a:r>
            <a:r>
              <a:rPr lang="fr-FR" dirty="0"/>
              <a:t>Jeremy </a:t>
            </a:r>
            <a:r>
              <a:rPr lang="fr-FR" dirty="0" err="1"/>
              <a:t>Huleux</a:t>
            </a:r>
            <a:endParaRPr lang="fr-FR" dirty="0"/>
          </a:p>
          <a:p>
            <a:pPr marL="0" indent="0">
              <a:buNone/>
            </a:pPr>
            <a:r>
              <a:rPr lang="fr-FR" b="1" dirty="0"/>
              <a:t>Parcours : </a:t>
            </a:r>
            <a:r>
              <a:rPr lang="fr-FR" dirty="0"/>
              <a:t>Data </a:t>
            </a:r>
            <a:r>
              <a:rPr lang="fr-FR" dirty="0" err="1"/>
              <a:t>Engineer</a:t>
            </a:r>
            <a:endParaRPr lang="fr-FR" dirty="0"/>
          </a:p>
          <a:p>
            <a:pPr marL="0" indent="0">
              <a:buNone/>
            </a:pPr>
            <a:r>
              <a:rPr lang="fr-FR" b="1" dirty="0"/>
              <a:t>Mission : </a:t>
            </a:r>
            <a:r>
              <a:rPr lang="fr-FR" dirty="0"/>
              <a:t>De l'analyse de données au déploiement Cloud</a:t>
            </a:r>
          </a:p>
          <a:p>
            <a:pPr marL="0" indent="0">
              <a:buNone/>
            </a:pPr>
            <a:r>
              <a:rPr lang="fr-FR" b="1" dirty="0"/>
              <a:t>Stack technique : </a:t>
            </a:r>
          </a:p>
          <a:p>
            <a:pPr lvl="1"/>
            <a:r>
              <a:rPr lang="fr-FR" dirty="0"/>
              <a:t>Python</a:t>
            </a:r>
          </a:p>
          <a:p>
            <a:pPr lvl="1"/>
            <a:r>
              <a:rPr lang="fr-FR" dirty="0" err="1"/>
              <a:t>Scikit-Learn</a:t>
            </a:r>
            <a:endParaRPr lang="fr-FR" dirty="0"/>
          </a:p>
          <a:p>
            <a:pPr lvl="1"/>
            <a:r>
              <a:rPr lang="fr-FR" dirty="0" err="1"/>
              <a:t>BentoML</a:t>
            </a:r>
            <a:endParaRPr lang="fr-FR" dirty="0"/>
          </a:p>
          <a:p>
            <a:pPr lvl="1"/>
            <a:r>
              <a:rPr lang="fr-FR" dirty="0"/>
              <a:t>Docker</a:t>
            </a:r>
          </a:p>
          <a:p>
            <a:pPr lvl="1"/>
            <a:r>
              <a:rPr lang="fr-FR" dirty="0"/>
              <a:t>Google Cloud Platform</a:t>
            </a:r>
          </a:p>
          <a:p>
            <a:endParaRPr lang="fr-FR" dirty="0"/>
          </a:p>
        </p:txBody>
      </p:sp>
    </p:spTree>
    <p:extLst>
      <p:ext uri="{BB962C8B-B14F-4D97-AF65-F5344CB8AC3E}">
        <p14:creationId xmlns:p14="http://schemas.microsoft.com/office/powerpoint/2010/main" val="1396636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D1D23A-81BD-51A2-CEB1-6532F2B005E0}"/>
              </a:ext>
            </a:extLst>
          </p:cNvPr>
          <p:cNvSpPr>
            <a:spLocks noGrp="1"/>
          </p:cNvSpPr>
          <p:nvPr>
            <p:ph type="title"/>
          </p:nvPr>
        </p:nvSpPr>
        <p:spPr/>
        <p:txBody>
          <a:bodyPr/>
          <a:lstStyle/>
          <a:p>
            <a:r>
              <a:rPr lang="fr-FR"/>
              <a:t>Contexte &amp; Objectifs</a:t>
            </a:r>
          </a:p>
        </p:txBody>
      </p:sp>
      <p:sp>
        <p:nvSpPr>
          <p:cNvPr id="3" name="Espace réservé du texte 2">
            <a:extLst>
              <a:ext uri="{FF2B5EF4-FFF2-40B4-BE49-F238E27FC236}">
                <a16:creationId xmlns:a16="http://schemas.microsoft.com/office/drawing/2014/main" id="{C668C297-381D-1A1E-0276-685E394F3EF5}"/>
              </a:ext>
            </a:extLst>
          </p:cNvPr>
          <p:cNvSpPr>
            <a:spLocks noGrp="1"/>
          </p:cNvSpPr>
          <p:nvPr>
            <p:ph type="body" idx="1"/>
          </p:nvPr>
        </p:nvSpPr>
        <p:spPr/>
        <p:txBody>
          <a:bodyPr/>
          <a:lstStyle/>
          <a:p>
            <a:r>
              <a:rPr lang="fr-FR" b="1" dirty="0"/>
              <a:t>Ville de Seattle : </a:t>
            </a:r>
            <a:r>
              <a:rPr lang="fr-FR" dirty="0"/>
              <a:t>Objectif Neutralité Carbone 2050</a:t>
            </a:r>
          </a:p>
          <a:p>
            <a:r>
              <a:rPr lang="fr-FR" b="1" dirty="0"/>
              <a:t>Problème : </a:t>
            </a:r>
            <a:r>
              <a:rPr lang="fr-FR" dirty="0"/>
              <a:t>Les relevés physiques de consommation sont coûteux.</a:t>
            </a:r>
          </a:p>
          <a:p>
            <a:r>
              <a:rPr lang="fr-FR" b="1" dirty="0"/>
              <a:t>Solution demandée :</a:t>
            </a:r>
          </a:p>
          <a:p>
            <a:pPr lvl="1"/>
            <a:r>
              <a:rPr lang="fr-FR" dirty="0"/>
              <a:t>Prédire la consommation totale (</a:t>
            </a:r>
            <a:r>
              <a:rPr lang="fr-FR" dirty="0" err="1"/>
              <a:t>SiteEnergyUse</a:t>
            </a:r>
            <a:r>
              <a:rPr lang="fr-FR" dirty="0"/>
              <a:t>) sans relevé</a:t>
            </a:r>
          </a:p>
          <a:p>
            <a:pPr lvl="1"/>
            <a:r>
              <a:rPr lang="fr-FR" dirty="0"/>
              <a:t>Utiliser uniquement des données structurelles (Surface, Age, Usage)</a:t>
            </a:r>
          </a:p>
          <a:p>
            <a:r>
              <a:rPr lang="fr-FR" b="1" dirty="0"/>
              <a:t>Données : </a:t>
            </a:r>
            <a:r>
              <a:rPr lang="fr-FR" dirty="0"/>
              <a:t>Relevés 2016 des bâtiments non-résidentiels</a:t>
            </a:r>
          </a:p>
          <a:p>
            <a:endParaRPr lang="fr-FR" dirty="0"/>
          </a:p>
        </p:txBody>
      </p:sp>
    </p:spTree>
    <p:extLst>
      <p:ext uri="{BB962C8B-B14F-4D97-AF65-F5344CB8AC3E}">
        <p14:creationId xmlns:p14="http://schemas.microsoft.com/office/powerpoint/2010/main" val="3492396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0FF999-BCE8-1373-989E-432CAA7F263B}"/>
              </a:ext>
            </a:extLst>
          </p:cNvPr>
          <p:cNvSpPr>
            <a:spLocks noGrp="1"/>
          </p:cNvSpPr>
          <p:nvPr>
            <p:ph type="title"/>
          </p:nvPr>
        </p:nvSpPr>
        <p:spPr/>
        <p:txBody>
          <a:bodyPr/>
          <a:lstStyle/>
          <a:p>
            <a:r>
              <a:rPr lang="fr-FR"/>
              <a:t>1. Nettoyage &amp; Feature Engineering</a:t>
            </a:r>
          </a:p>
        </p:txBody>
      </p:sp>
      <p:sp>
        <p:nvSpPr>
          <p:cNvPr id="3" name="Espace réservé du texte 2">
            <a:extLst>
              <a:ext uri="{FF2B5EF4-FFF2-40B4-BE49-F238E27FC236}">
                <a16:creationId xmlns:a16="http://schemas.microsoft.com/office/drawing/2014/main" id="{E89E5488-D881-F53C-B914-0207ADFD201A}"/>
              </a:ext>
            </a:extLst>
          </p:cNvPr>
          <p:cNvSpPr>
            <a:spLocks noGrp="1"/>
          </p:cNvSpPr>
          <p:nvPr>
            <p:ph type="body" idx="1"/>
          </p:nvPr>
        </p:nvSpPr>
        <p:spPr>
          <a:xfrm>
            <a:off x="120363" y="3023452"/>
            <a:ext cx="7729728" cy="3101983"/>
          </a:xfrm>
        </p:spPr>
        <p:txBody>
          <a:bodyPr/>
          <a:lstStyle/>
          <a:p>
            <a:pPr marL="0" indent="0">
              <a:buNone/>
            </a:pPr>
            <a:r>
              <a:rPr lang="fr-FR" b="1" dirty="0"/>
              <a:t>Stratégie de nettoyage (Script preprocess_data.py) :</a:t>
            </a:r>
          </a:p>
          <a:p>
            <a:pPr lvl="1"/>
            <a:r>
              <a:rPr lang="fr-FR" dirty="0"/>
              <a:t>Filtrage : Conservation uniquement du Non-Résidentiel</a:t>
            </a:r>
          </a:p>
          <a:p>
            <a:pPr lvl="1"/>
            <a:r>
              <a:rPr lang="fr-FR" dirty="0" err="1"/>
              <a:t>Outliers</a:t>
            </a:r>
            <a:r>
              <a:rPr lang="fr-FR" dirty="0"/>
              <a:t> : Suppression des valeurs aberrantes</a:t>
            </a:r>
          </a:p>
          <a:p>
            <a:pPr lvl="1"/>
            <a:r>
              <a:rPr lang="fr-FR" dirty="0"/>
              <a:t>Valeurs manquantes : Suppression des lignes sans Target (Règle d'Or)</a:t>
            </a:r>
          </a:p>
          <a:p>
            <a:pPr marL="0" indent="0">
              <a:buNone/>
            </a:pPr>
            <a:r>
              <a:rPr lang="fr-FR" b="1" dirty="0"/>
              <a:t>Création de </a:t>
            </a:r>
            <a:r>
              <a:rPr lang="fr-FR" b="1" dirty="0" err="1"/>
              <a:t>Features</a:t>
            </a:r>
            <a:r>
              <a:rPr lang="fr-FR" b="1" dirty="0"/>
              <a:t> :</a:t>
            </a:r>
          </a:p>
          <a:p>
            <a:pPr lvl="1"/>
            <a:r>
              <a:rPr lang="fr-FR" dirty="0" err="1"/>
              <a:t>BuildingAge</a:t>
            </a:r>
            <a:r>
              <a:rPr lang="fr-FR" dirty="0"/>
              <a:t> = 2016 - </a:t>
            </a:r>
            <a:r>
              <a:rPr lang="fr-FR" dirty="0" err="1"/>
              <a:t>YearBuilt</a:t>
            </a:r>
            <a:endParaRPr lang="fr-FR" dirty="0"/>
          </a:p>
          <a:p>
            <a:pPr lvl="1"/>
            <a:r>
              <a:rPr lang="fr-FR" dirty="0"/>
              <a:t>Transformation Logarithmique de la Target (np.log1p)</a:t>
            </a:r>
          </a:p>
          <a:p>
            <a:endParaRPr lang="fr-FR" dirty="0"/>
          </a:p>
        </p:txBody>
      </p:sp>
      <p:pic>
        <p:nvPicPr>
          <p:cNvPr id="5" name="Image 4">
            <a:extLst>
              <a:ext uri="{FF2B5EF4-FFF2-40B4-BE49-F238E27FC236}">
                <a16:creationId xmlns:a16="http://schemas.microsoft.com/office/drawing/2014/main" id="{85AF4833-7661-97BB-F911-BFD75A8C74B5}"/>
              </a:ext>
            </a:extLst>
          </p:cNvPr>
          <p:cNvPicPr>
            <a:picLocks noChangeAspect="1"/>
          </p:cNvPicPr>
          <p:nvPr/>
        </p:nvPicPr>
        <p:blipFill>
          <a:blip r:embed="rId3"/>
          <a:stretch>
            <a:fillRect/>
          </a:stretch>
        </p:blipFill>
        <p:spPr>
          <a:xfrm>
            <a:off x="6463355" y="2539802"/>
            <a:ext cx="5608282" cy="4179036"/>
          </a:xfrm>
          <a:prstGeom prst="rect">
            <a:avLst/>
          </a:prstGeom>
        </p:spPr>
      </p:pic>
    </p:spTree>
    <p:extLst>
      <p:ext uri="{BB962C8B-B14F-4D97-AF65-F5344CB8AC3E}">
        <p14:creationId xmlns:p14="http://schemas.microsoft.com/office/powerpoint/2010/main" val="1953099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D6F0DE-D67F-E8F1-F655-2937E53E5F51}"/>
              </a:ext>
            </a:extLst>
          </p:cNvPr>
          <p:cNvSpPr>
            <a:spLocks noGrp="1"/>
          </p:cNvSpPr>
          <p:nvPr>
            <p:ph type="title"/>
          </p:nvPr>
        </p:nvSpPr>
        <p:spPr/>
        <p:txBody>
          <a:bodyPr/>
          <a:lstStyle/>
          <a:p>
            <a:r>
              <a:rPr lang="fr-FR"/>
              <a:t>2. Modélisation &amp; Choix du Modèle</a:t>
            </a:r>
          </a:p>
        </p:txBody>
      </p:sp>
      <p:sp>
        <p:nvSpPr>
          <p:cNvPr id="3" name="Espace réservé du texte 2">
            <a:extLst>
              <a:ext uri="{FF2B5EF4-FFF2-40B4-BE49-F238E27FC236}">
                <a16:creationId xmlns:a16="http://schemas.microsoft.com/office/drawing/2014/main" id="{536931D7-8C69-92D7-AA28-3C605BC1AFA4}"/>
              </a:ext>
            </a:extLst>
          </p:cNvPr>
          <p:cNvSpPr>
            <a:spLocks noGrp="1"/>
          </p:cNvSpPr>
          <p:nvPr>
            <p:ph type="body" idx="1"/>
          </p:nvPr>
        </p:nvSpPr>
        <p:spPr>
          <a:xfrm>
            <a:off x="476092" y="2389420"/>
            <a:ext cx="6220842" cy="2455784"/>
          </a:xfrm>
        </p:spPr>
        <p:txBody>
          <a:bodyPr>
            <a:normAutofit fontScale="70000" lnSpcReduction="20000"/>
          </a:bodyPr>
          <a:lstStyle/>
          <a:p>
            <a:pPr marL="0" indent="0">
              <a:buNone/>
            </a:pPr>
            <a:r>
              <a:rPr lang="fr-FR" b="1" dirty="0"/>
              <a:t>Approche progressive :</a:t>
            </a:r>
          </a:p>
          <a:p>
            <a:pPr lvl="1"/>
            <a:r>
              <a:rPr lang="fr-FR" dirty="0"/>
              <a:t>Baseline : Régression Linéaire (R² faible)</a:t>
            </a:r>
          </a:p>
          <a:p>
            <a:pPr lvl="1"/>
            <a:r>
              <a:rPr lang="fr-FR" dirty="0"/>
              <a:t>Modèle retenu : </a:t>
            </a:r>
            <a:r>
              <a:rPr lang="fr-FR" dirty="0" err="1"/>
              <a:t>RandomForestRegressor</a:t>
            </a:r>
            <a:endParaRPr lang="fr-FR" dirty="0"/>
          </a:p>
          <a:p>
            <a:pPr marL="0" indent="0">
              <a:buNone/>
            </a:pPr>
            <a:r>
              <a:rPr lang="fr-FR" b="1" dirty="0"/>
              <a:t>Optimisation :</a:t>
            </a:r>
          </a:p>
          <a:p>
            <a:pPr lvl="1"/>
            <a:r>
              <a:rPr lang="fr-FR" dirty="0" err="1"/>
              <a:t>GridSearch</a:t>
            </a:r>
            <a:r>
              <a:rPr lang="fr-FR" dirty="0"/>
              <a:t> pour trouver les meilleurs hyperparamètres</a:t>
            </a:r>
          </a:p>
          <a:p>
            <a:pPr lvl="1"/>
            <a:r>
              <a:rPr lang="fr-FR" dirty="0"/>
              <a:t>Meilleur compromis Performance / Robustesse</a:t>
            </a:r>
          </a:p>
          <a:p>
            <a:pPr marL="0" indent="0">
              <a:buNone/>
            </a:pPr>
            <a:r>
              <a:rPr lang="fr-FR" b="1" dirty="0"/>
              <a:t>Pipeline </a:t>
            </a:r>
            <a:r>
              <a:rPr lang="fr-FR" b="1" dirty="0" err="1"/>
              <a:t>Scikit-Learn</a:t>
            </a:r>
            <a:r>
              <a:rPr lang="fr-FR" b="1" dirty="0"/>
              <a:t> :</a:t>
            </a:r>
          </a:p>
          <a:p>
            <a:pPr lvl="1"/>
            <a:r>
              <a:rPr lang="fr-FR" dirty="0" err="1"/>
              <a:t>OneHotEncoder</a:t>
            </a:r>
            <a:r>
              <a:rPr lang="fr-FR" dirty="0"/>
              <a:t> (Variables catégorielles)</a:t>
            </a:r>
          </a:p>
          <a:p>
            <a:pPr lvl="1"/>
            <a:r>
              <a:rPr lang="fr-FR" dirty="0" err="1"/>
              <a:t>StandardScaler</a:t>
            </a:r>
            <a:r>
              <a:rPr lang="fr-FR" dirty="0"/>
              <a:t> (Variables numériques)</a:t>
            </a:r>
          </a:p>
        </p:txBody>
      </p:sp>
      <p:pic>
        <p:nvPicPr>
          <p:cNvPr id="5" name="Image 4">
            <a:extLst>
              <a:ext uri="{FF2B5EF4-FFF2-40B4-BE49-F238E27FC236}">
                <a16:creationId xmlns:a16="http://schemas.microsoft.com/office/drawing/2014/main" id="{68FFF898-6C99-A2F3-1AF6-A7072D6DA4F4}"/>
              </a:ext>
            </a:extLst>
          </p:cNvPr>
          <p:cNvPicPr>
            <a:picLocks noChangeAspect="1"/>
          </p:cNvPicPr>
          <p:nvPr/>
        </p:nvPicPr>
        <p:blipFill>
          <a:blip r:embed="rId3"/>
          <a:srcRect l="1683"/>
          <a:stretch/>
        </p:blipFill>
        <p:spPr>
          <a:xfrm>
            <a:off x="4677798" y="2766251"/>
            <a:ext cx="7209402" cy="1702121"/>
          </a:xfrm>
          <a:prstGeom prst="rect">
            <a:avLst/>
          </a:prstGeom>
        </p:spPr>
      </p:pic>
      <p:pic>
        <p:nvPicPr>
          <p:cNvPr id="7" name="Image 6">
            <a:extLst>
              <a:ext uri="{FF2B5EF4-FFF2-40B4-BE49-F238E27FC236}">
                <a16:creationId xmlns:a16="http://schemas.microsoft.com/office/drawing/2014/main" id="{450ECB61-4B7D-BBEC-0BA0-D6BBFBFA03DB}"/>
              </a:ext>
            </a:extLst>
          </p:cNvPr>
          <p:cNvPicPr>
            <a:picLocks noChangeAspect="1"/>
          </p:cNvPicPr>
          <p:nvPr/>
        </p:nvPicPr>
        <p:blipFill>
          <a:blip r:embed="rId4"/>
          <a:stretch>
            <a:fillRect/>
          </a:stretch>
        </p:blipFill>
        <p:spPr>
          <a:xfrm>
            <a:off x="0" y="5087341"/>
            <a:ext cx="12192000" cy="1770659"/>
          </a:xfrm>
          <a:prstGeom prst="rect">
            <a:avLst/>
          </a:prstGeom>
        </p:spPr>
      </p:pic>
    </p:spTree>
    <p:extLst>
      <p:ext uri="{BB962C8B-B14F-4D97-AF65-F5344CB8AC3E}">
        <p14:creationId xmlns:p14="http://schemas.microsoft.com/office/powerpoint/2010/main" val="2237080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BD47B9-052E-9807-E791-78EDDEBEC4FF}"/>
              </a:ext>
            </a:extLst>
          </p:cNvPr>
          <p:cNvSpPr>
            <a:spLocks noGrp="1"/>
          </p:cNvSpPr>
          <p:nvPr>
            <p:ph type="title"/>
          </p:nvPr>
        </p:nvSpPr>
        <p:spPr/>
        <p:txBody>
          <a:bodyPr/>
          <a:lstStyle/>
          <a:p>
            <a:r>
              <a:rPr lang="fr-FR"/>
              <a:t>3. Structuration du Code (Local)</a:t>
            </a:r>
          </a:p>
        </p:txBody>
      </p:sp>
      <p:sp>
        <p:nvSpPr>
          <p:cNvPr id="3" name="Espace réservé du texte 2">
            <a:extLst>
              <a:ext uri="{FF2B5EF4-FFF2-40B4-BE49-F238E27FC236}">
                <a16:creationId xmlns:a16="http://schemas.microsoft.com/office/drawing/2014/main" id="{3A108C46-1329-0D26-182F-48AFB1F1CB38}"/>
              </a:ext>
            </a:extLst>
          </p:cNvPr>
          <p:cNvSpPr>
            <a:spLocks noGrp="1"/>
          </p:cNvSpPr>
          <p:nvPr>
            <p:ph type="body" idx="1"/>
          </p:nvPr>
        </p:nvSpPr>
        <p:spPr/>
        <p:txBody>
          <a:bodyPr/>
          <a:lstStyle/>
          <a:p>
            <a:pPr marL="0" indent="0">
              <a:buNone/>
            </a:pPr>
            <a:r>
              <a:rPr lang="fr-FR" b="1" dirty="0"/>
              <a:t>Passage des Notebooks aux Scripts Python :</a:t>
            </a:r>
          </a:p>
          <a:p>
            <a:pPr lvl="1"/>
            <a:r>
              <a:rPr lang="en-US" dirty="0"/>
              <a:t>preprocess_data.py : ETL </a:t>
            </a:r>
            <a:r>
              <a:rPr lang="en-US" dirty="0" err="1"/>
              <a:t>pur</a:t>
            </a:r>
            <a:r>
              <a:rPr lang="en-US" dirty="0"/>
              <a:t> (Raw Data -&gt; Clean CSV)</a:t>
            </a:r>
          </a:p>
          <a:p>
            <a:pPr lvl="1"/>
            <a:r>
              <a:rPr lang="fr-FR" dirty="0"/>
              <a:t>save_model.py : Entraînement et Sauvegarde du Pipeline</a:t>
            </a:r>
          </a:p>
          <a:p>
            <a:pPr lvl="1"/>
            <a:r>
              <a:rPr lang="fr-FR" dirty="0"/>
              <a:t>service.py : Code de l'API</a:t>
            </a:r>
          </a:p>
          <a:p>
            <a:pPr marL="0" indent="0">
              <a:buNone/>
            </a:pPr>
            <a:r>
              <a:rPr lang="fr-FR" b="1" dirty="0"/>
              <a:t>Gestion des dépendances :</a:t>
            </a:r>
          </a:p>
          <a:p>
            <a:pPr lvl="1"/>
            <a:r>
              <a:rPr lang="fr-FR" dirty="0"/>
              <a:t>Utilisation de </a:t>
            </a:r>
            <a:r>
              <a:rPr lang="fr-FR" dirty="0" err="1"/>
              <a:t>Poetry</a:t>
            </a:r>
            <a:r>
              <a:rPr lang="fr-FR" dirty="0"/>
              <a:t> (</a:t>
            </a:r>
            <a:r>
              <a:rPr lang="fr-FR" dirty="0" err="1"/>
              <a:t>pyproject.toml</a:t>
            </a:r>
            <a:r>
              <a:rPr lang="fr-FR" dirty="0"/>
              <a:t>)</a:t>
            </a:r>
          </a:p>
          <a:p>
            <a:pPr lvl="1"/>
            <a:r>
              <a:rPr lang="fr-FR" dirty="0"/>
              <a:t>Environnement virtuel isolé (.</a:t>
            </a:r>
            <a:r>
              <a:rPr lang="fr-FR" dirty="0" err="1"/>
              <a:t>venv</a:t>
            </a:r>
            <a:r>
              <a:rPr lang="fr-FR" dirty="0"/>
              <a:t>)</a:t>
            </a:r>
          </a:p>
          <a:p>
            <a:endParaRPr lang="fr-FR" dirty="0"/>
          </a:p>
        </p:txBody>
      </p:sp>
      <p:pic>
        <p:nvPicPr>
          <p:cNvPr id="5" name="Image 4">
            <a:extLst>
              <a:ext uri="{FF2B5EF4-FFF2-40B4-BE49-F238E27FC236}">
                <a16:creationId xmlns:a16="http://schemas.microsoft.com/office/drawing/2014/main" id="{19F2A190-0E82-E8F4-64FF-B938A394AF23}"/>
              </a:ext>
            </a:extLst>
          </p:cNvPr>
          <p:cNvPicPr>
            <a:picLocks noChangeAspect="1"/>
          </p:cNvPicPr>
          <p:nvPr/>
        </p:nvPicPr>
        <p:blipFill>
          <a:blip r:embed="rId3"/>
          <a:stretch>
            <a:fillRect/>
          </a:stretch>
        </p:blipFill>
        <p:spPr>
          <a:xfrm>
            <a:off x="8215899" y="2440919"/>
            <a:ext cx="2157865" cy="4106032"/>
          </a:xfrm>
          <a:prstGeom prst="rect">
            <a:avLst/>
          </a:prstGeom>
        </p:spPr>
      </p:pic>
    </p:spTree>
    <p:extLst>
      <p:ext uri="{BB962C8B-B14F-4D97-AF65-F5344CB8AC3E}">
        <p14:creationId xmlns:p14="http://schemas.microsoft.com/office/powerpoint/2010/main" val="2853459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B3B0BB-DB72-31A8-0C7E-906B154DD125}"/>
              </a:ext>
            </a:extLst>
          </p:cNvPr>
          <p:cNvSpPr>
            <a:spLocks noGrp="1"/>
          </p:cNvSpPr>
          <p:nvPr>
            <p:ph type="title"/>
          </p:nvPr>
        </p:nvSpPr>
        <p:spPr/>
        <p:txBody>
          <a:bodyPr/>
          <a:lstStyle/>
          <a:p>
            <a:r>
              <a:rPr lang="fr-FR"/>
              <a:t>4. Création de l'API avec BentoML</a:t>
            </a:r>
          </a:p>
        </p:txBody>
      </p:sp>
      <p:sp>
        <p:nvSpPr>
          <p:cNvPr id="3" name="Espace réservé du texte 2">
            <a:extLst>
              <a:ext uri="{FF2B5EF4-FFF2-40B4-BE49-F238E27FC236}">
                <a16:creationId xmlns:a16="http://schemas.microsoft.com/office/drawing/2014/main" id="{E289D4A5-1592-F2D8-AD4F-DFB3050E774F}"/>
              </a:ext>
            </a:extLst>
          </p:cNvPr>
          <p:cNvSpPr>
            <a:spLocks noGrp="1"/>
          </p:cNvSpPr>
          <p:nvPr>
            <p:ph type="body" idx="1"/>
          </p:nvPr>
        </p:nvSpPr>
        <p:spPr/>
        <p:txBody>
          <a:bodyPr/>
          <a:lstStyle/>
          <a:p>
            <a:pPr marL="0" indent="0">
              <a:buNone/>
            </a:pPr>
            <a:r>
              <a:rPr lang="fr-FR" b="1" dirty="0"/>
              <a:t>Pourquoi </a:t>
            </a:r>
            <a:r>
              <a:rPr lang="fr-FR" b="1" dirty="0" err="1"/>
              <a:t>BentoML</a:t>
            </a:r>
            <a:r>
              <a:rPr lang="fr-FR" b="1" dirty="0"/>
              <a:t> ?</a:t>
            </a:r>
          </a:p>
          <a:p>
            <a:pPr lvl="1"/>
            <a:r>
              <a:rPr lang="fr-FR" dirty="0"/>
              <a:t>Framework standardisé pour le </a:t>
            </a:r>
            <a:r>
              <a:rPr lang="fr-FR" dirty="0" err="1"/>
              <a:t>MLOps</a:t>
            </a:r>
            <a:endParaRPr lang="fr-FR" dirty="0"/>
          </a:p>
          <a:p>
            <a:pPr lvl="1"/>
            <a:r>
              <a:rPr lang="fr-FR" dirty="0"/>
              <a:t>Gestion native des types (Input/Output)</a:t>
            </a:r>
          </a:p>
          <a:p>
            <a:pPr marL="0" indent="0">
              <a:buNone/>
            </a:pPr>
            <a:r>
              <a:rPr lang="fr-FR" b="1" dirty="0"/>
              <a:t>Fonctionnement du Service (service.py) :</a:t>
            </a:r>
          </a:p>
          <a:p>
            <a:pPr marL="571500" lvl="1" indent="-342900">
              <a:buFont typeface="+mj-lt"/>
              <a:buAutoNum type="arabicPeriod"/>
            </a:pPr>
            <a:r>
              <a:rPr lang="fr-FR" dirty="0"/>
              <a:t>Réception du JSON (Validation </a:t>
            </a:r>
            <a:r>
              <a:rPr lang="fr-FR" dirty="0" err="1"/>
              <a:t>Pydantic</a:t>
            </a:r>
            <a:r>
              <a:rPr lang="fr-FR" dirty="0"/>
              <a:t>)</a:t>
            </a:r>
          </a:p>
          <a:p>
            <a:pPr marL="571500" lvl="1" indent="-342900">
              <a:buFont typeface="+mj-lt"/>
              <a:buAutoNum type="arabicPeriod"/>
            </a:pPr>
            <a:r>
              <a:rPr lang="fr-FR" dirty="0"/>
              <a:t>Prédiction par le modèle (en Log)</a:t>
            </a:r>
          </a:p>
          <a:p>
            <a:pPr marL="571500" lvl="1" indent="-342900">
              <a:buFont typeface="+mj-lt"/>
              <a:buAutoNum type="arabicPeriod"/>
            </a:pPr>
            <a:r>
              <a:rPr lang="fr-FR" dirty="0"/>
              <a:t>Transformation inverse (np.expm1) pour le client</a:t>
            </a:r>
          </a:p>
          <a:p>
            <a:endParaRPr lang="fr-FR" dirty="0"/>
          </a:p>
        </p:txBody>
      </p:sp>
    </p:spTree>
    <p:extLst>
      <p:ext uri="{BB962C8B-B14F-4D97-AF65-F5344CB8AC3E}">
        <p14:creationId xmlns:p14="http://schemas.microsoft.com/office/powerpoint/2010/main" val="2692106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F5F59E-234E-69AB-DA3F-3471BF4D54E1}"/>
              </a:ext>
            </a:extLst>
          </p:cNvPr>
          <p:cNvSpPr>
            <a:spLocks noGrp="1"/>
          </p:cNvSpPr>
          <p:nvPr>
            <p:ph type="title"/>
          </p:nvPr>
        </p:nvSpPr>
        <p:spPr/>
        <p:txBody>
          <a:bodyPr/>
          <a:lstStyle/>
          <a:p>
            <a:r>
              <a:rPr lang="fr-FR"/>
              <a:t>5. Conteneurisation (Docker)</a:t>
            </a:r>
          </a:p>
        </p:txBody>
      </p:sp>
      <p:sp>
        <p:nvSpPr>
          <p:cNvPr id="3" name="Espace réservé du texte 2">
            <a:extLst>
              <a:ext uri="{FF2B5EF4-FFF2-40B4-BE49-F238E27FC236}">
                <a16:creationId xmlns:a16="http://schemas.microsoft.com/office/drawing/2014/main" id="{E63A2257-4CCD-EE61-5B98-6D22EB9DF825}"/>
              </a:ext>
            </a:extLst>
          </p:cNvPr>
          <p:cNvSpPr>
            <a:spLocks noGrp="1"/>
          </p:cNvSpPr>
          <p:nvPr>
            <p:ph type="body" idx="1"/>
          </p:nvPr>
        </p:nvSpPr>
        <p:spPr>
          <a:xfrm>
            <a:off x="2231136" y="2245078"/>
            <a:ext cx="7729728" cy="3101983"/>
          </a:xfrm>
        </p:spPr>
        <p:txBody>
          <a:bodyPr>
            <a:normAutofit/>
          </a:bodyPr>
          <a:lstStyle/>
          <a:p>
            <a:pPr marL="0" indent="0">
              <a:buNone/>
            </a:pPr>
            <a:r>
              <a:rPr lang="fr-FR" b="1" dirty="0"/>
              <a:t>Objectif : </a:t>
            </a:r>
            <a:r>
              <a:rPr lang="fr-FR" dirty="0"/>
              <a:t>Rendre l'application portable</a:t>
            </a:r>
          </a:p>
          <a:p>
            <a:pPr marL="0" indent="0">
              <a:buNone/>
            </a:pPr>
            <a:r>
              <a:rPr lang="fr-FR" b="1" dirty="0"/>
              <a:t>Processus de </a:t>
            </a:r>
            <a:r>
              <a:rPr lang="fr-FR" b="1" dirty="0" err="1"/>
              <a:t>build</a:t>
            </a:r>
            <a:r>
              <a:rPr lang="fr-FR" b="1" dirty="0"/>
              <a:t> :</a:t>
            </a:r>
          </a:p>
          <a:p>
            <a:pPr lvl="1"/>
            <a:r>
              <a:rPr lang="fr-FR" dirty="0" err="1"/>
              <a:t>bentoml</a:t>
            </a:r>
            <a:r>
              <a:rPr lang="fr-FR" dirty="0"/>
              <a:t> </a:t>
            </a:r>
            <a:r>
              <a:rPr lang="fr-FR" dirty="0" err="1"/>
              <a:t>build</a:t>
            </a:r>
            <a:r>
              <a:rPr lang="fr-FR" dirty="0"/>
              <a:t> : Création du paquet (Bento)</a:t>
            </a:r>
          </a:p>
          <a:p>
            <a:pPr lvl="1"/>
            <a:r>
              <a:rPr lang="fr-FR" dirty="0" err="1"/>
              <a:t>bentoml</a:t>
            </a:r>
            <a:r>
              <a:rPr lang="fr-FR" dirty="0"/>
              <a:t> </a:t>
            </a:r>
            <a:r>
              <a:rPr lang="fr-FR" dirty="0" err="1"/>
              <a:t>containerize</a:t>
            </a:r>
            <a:r>
              <a:rPr lang="fr-FR" dirty="0"/>
              <a:t> : Génération de l'image Docker</a:t>
            </a:r>
          </a:p>
          <a:p>
            <a:pPr marL="0" indent="0">
              <a:buNone/>
            </a:pPr>
            <a:r>
              <a:rPr lang="fr-FR" b="1" dirty="0"/>
              <a:t>Contenu de l'image :</a:t>
            </a:r>
          </a:p>
          <a:p>
            <a:pPr lvl="1"/>
            <a:r>
              <a:rPr lang="fr-FR" dirty="0"/>
              <a:t>OS Linux (Debian slim)</a:t>
            </a:r>
          </a:p>
          <a:p>
            <a:pPr lvl="1"/>
            <a:r>
              <a:rPr lang="fr-FR" dirty="0"/>
              <a:t>Python 3.9 + Dépendances</a:t>
            </a:r>
          </a:p>
          <a:p>
            <a:pPr lvl="1"/>
            <a:r>
              <a:rPr lang="fr-FR" dirty="0"/>
              <a:t>Le modèle entraîné + Le code de l'API</a:t>
            </a:r>
          </a:p>
          <a:p>
            <a:endParaRPr lang="fr-FR" dirty="0"/>
          </a:p>
        </p:txBody>
      </p:sp>
      <p:pic>
        <p:nvPicPr>
          <p:cNvPr id="5" name="Image 4">
            <a:extLst>
              <a:ext uri="{FF2B5EF4-FFF2-40B4-BE49-F238E27FC236}">
                <a16:creationId xmlns:a16="http://schemas.microsoft.com/office/drawing/2014/main" id="{9D1FDCCB-F592-1C74-5E99-8C2DA8AF485A}"/>
              </a:ext>
            </a:extLst>
          </p:cNvPr>
          <p:cNvPicPr>
            <a:picLocks noChangeAspect="1"/>
          </p:cNvPicPr>
          <p:nvPr/>
        </p:nvPicPr>
        <p:blipFill>
          <a:blip r:embed="rId3"/>
          <a:srcRect l="-586" t="12719" r="5739" b="42428"/>
          <a:stretch/>
        </p:blipFill>
        <p:spPr>
          <a:xfrm>
            <a:off x="1137069" y="5347061"/>
            <a:ext cx="9917862" cy="1228535"/>
          </a:xfrm>
          <a:prstGeom prst="rect">
            <a:avLst/>
          </a:prstGeom>
        </p:spPr>
      </p:pic>
    </p:spTree>
    <p:extLst>
      <p:ext uri="{BB962C8B-B14F-4D97-AF65-F5344CB8AC3E}">
        <p14:creationId xmlns:p14="http://schemas.microsoft.com/office/powerpoint/2010/main" val="1899166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213077-AAAF-0C62-E44E-F90CF67C6C5F}"/>
              </a:ext>
            </a:extLst>
          </p:cNvPr>
          <p:cNvSpPr>
            <a:spLocks noGrp="1"/>
          </p:cNvSpPr>
          <p:nvPr>
            <p:ph type="title"/>
          </p:nvPr>
        </p:nvSpPr>
        <p:spPr/>
        <p:txBody>
          <a:bodyPr/>
          <a:lstStyle/>
          <a:p>
            <a:r>
              <a:rPr lang="en-US"/>
              <a:t>6. Cloud Google : Stockage (Artifact Registry)</a:t>
            </a:r>
            <a:endParaRPr lang="fr-FR"/>
          </a:p>
        </p:txBody>
      </p:sp>
      <p:sp>
        <p:nvSpPr>
          <p:cNvPr id="3" name="Espace réservé du texte 2">
            <a:extLst>
              <a:ext uri="{FF2B5EF4-FFF2-40B4-BE49-F238E27FC236}">
                <a16:creationId xmlns:a16="http://schemas.microsoft.com/office/drawing/2014/main" id="{3C6DA65F-8740-4DAA-FEC8-786958B813B4}"/>
              </a:ext>
            </a:extLst>
          </p:cNvPr>
          <p:cNvSpPr>
            <a:spLocks noGrp="1"/>
          </p:cNvSpPr>
          <p:nvPr>
            <p:ph type="body" idx="1"/>
          </p:nvPr>
        </p:nvSpPr>
        <p:spPr>
          <a:xfrm>
            <a:off x="915044" y="2798154"/>
            <a:ext cx="7729728" cy="3101983"/>
          </a:xfrm>
        </p:spPr>
        <p:txBody>
          <a:bodyPr/>
          <a:lstStyle/>
          <a:p>
            <a:pPr marL="0" indent="0">
              <a:buNone/>
            </a:pPr>
            <a:r>
              <a:rPr lang="fr-FR" b="1" dirty="0"/>
              <a:t>Pourquoi un </a:t>
            </a:r>
            <a:r>
              <a:rPr lang="fr-FR" b="1" dirty="0" err="1"/>
              <a:t>Registry</a:t>
            </a:r>
            <a:r>
              <a:rPr lang="fr-FR" b="1" dirty="0"/>
              <a:t> ?</a:t>
            </a:r>
          </a:p>
          <a:p>
            <a:pPr lvl="1"/>
            <a:r>
              <a:rPr lang="fr-FR" dirty="0"/>
              <a:t>Stocker l'image Docker de manière sécurisée et privée</a:t>
            </a:r>
          </a:p>
          <a:p>
            <a:pPr lvl="1"/>
            <a:r>
              <a:rPr lang="fr-FR" dirty="0"/>
              <a:t>Accessibilité par les services de déploiement</a:t>
            </a:r>
          </a:p>
          <a:p>
            <a:pPr marL="0" indent="0">
              <a:buNone/>
            </a:pPr>
            <a:r>
              <a:rPr lang="fr-FR" b="1" dirty="0"/>
              <a:t>Actions réalisées :</a:t>
            </a:r>
          </a:p>
          <a:p>
            <a:pPr lvl="1"/>
            <a:r>
              <a:rPr lang="fr-FR" dirty="0"/>
              <a:t>Création du dépôt '</a:t>
            </a:r>
            <a:r>
              <a:rPr lang="fr-FR" dirty="0" err="1"/>
              <a:t>seattle</a:t>
            </a:r>
            <a:r>
              <a:rPr lang="fr-FR" dirty="0"/>
              <a:t>-repo' (europe-west9)</a:t>
            </a:r>
          </a:p>
          <a:p>
            <a:pPr lvl="1"/>
            <a:r>
              <a:rPr lang="fr-FR" dirty="0" err="1"/>
              <a:t>Tagging</a:t>
            </a:r>
            <a:r>
              <a:rPr lang="fr-FR" dirty="0"/>
              <a:t> de l'image locale</a:t>
            </a:r>
          </a:p>
          <a:p>
            <a:pPr lvl="1"/>
            <a:r>
              <a:rPr lang="fr-FR" dirty="0"/>
              <a:t>Push vers le Cloud (docker push ...)</a:t>
            </a:r>
          </a:p>
          <a:p>
            <a:endParaRPr lang="fr-FR" dirty="0"/>
          </a:p>
        </p:txBody>
      </p:sp>
      <p:pic>
        <p:nvPicPr>
          <p:cNvPr id="5" name="Image 4">
            <a:extLst>
              <a:ext uri="{FF2B5EF4-FFF2-40B4-BE49-F238E27FC236}">
                <a16:creationId xmlns:a16="http://schemas.microsoft.com/office/drawing/2014/main" id="{4F5D3EBB-736D-C29A-5668-05C158046FB9}"/>
              </a:ext>
            </a:extLst>
          </p:cNvPr>
          <p:cNvPicPr>
            <a:picLocks noChangeAspect="1"/>
          </p:cNvPicPr>
          <p:nvPr/>
        </p:nvPicPr>
        <p:blipFill>
          <a:blip r:embed="rId3"/>
          <a:stretch>
            <a:fillRect/>
          </a:stretch>
        </p:blipFill>
        <p:spPr>
          <a:xfrm>
            <a:off x="7072026" y="2674459"/>
            <a:ext cx="4667901" cy="3096057"/>
          </a:xfrm>
          <a:prstGeom prst="rect">
            <a:avLst/>
          </a:prstGeom>
        </p:spPr>
      </p:pic>
    </p:spTree>
    <p:extLst>
      <p:ext uri="{BB962C8B-B14F-4D97-AF65-F5344CB8AC3E}">
        <p14:creationId xmlns:p14="http://schemas.microsoft.com/office/powerpoint/2010/main" val="3428125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78A97E-98C6-8363-253A-48CBCF73EF40}"/>
              </a:ext>
            </a:extLst>
          </p:cNvPr>
          <p:cNvSpPr>
            <a:spLocks noGrp="1"/>
          </p:cNvSpPr>
          <p:nvPr>
            <p:ph type="title"/>
          </p:nvPr>
        </p:nvSpPr>
        <p:spPr/>
        <p:txBody>
          <a:bodyPr/>
          <a:lstStyle/>
          <a:p>
            <a:r>
              <a:rPr lang="fr-FR"/>
              <a:t>7. Cloud Google : Déploiement (Cloud Run)</a:t>
            </a:r>
          </a:p>
        </p:txBody>
      </p:sp>
      <p:sp>
        <p:nvSpPr>
          <p:cNvPr id="3" name="Espace réservé du texte 2">
            <a:extLst>
              <a:ext uri="{FF2B5EF4-FFF2-40B4-BE49-F238E27FC236}">
                <a16:creationId xmlns:a16="http://schemas.microsoft.com/office/drawing/2014/main" id="{08A05B2D-B29E-18CE-50C5-D9665F685ECA}"/>
              </a:ext>
            </a:extLst>
          </p:cNvPr>
          <p:cNvSpPr>
            <a:spLocks noGrp="1"/>
          </p:cNvSpPr>
          <p:nvPr>
            <p:ph type="body" idx="1"/>
          </p:nvPr>
        </p:nvSpPr>
        <p:spPr/>
        <p:txBody>
          <a:bodyPr/>
          <a:lstStyle/>
          <a:p>
            <a:pPr marL="0" indent="0">
              <a:buNone/>
            </a:pPr>
            <a:r>
              <a:rPr lang="fr-FR" b="1" dirty="0"/>
              <a:t>Choix de Google Cloud Run :</a:t>
            </a:r>
          </a:p>
          <a:p>
            <a:pPr lvl="1"/>
            <a:r>
              <a:rPr lang="fr-FR" dirty="0"/>
              <a:t>Architecture </a:t>
            </a:r>
            <a:r>
              <a:rPr lang="fr-FR" dirty="0" err="1"/>
              <a:t>Serverless</a:t>
            </a:r>
            <a:r>
              <a:rPr lang="fr-FR" dirty="0"/>
              <a:t> (Pas de gestion de VM)</a:t>
            </a:r>
          </a:p>
          <a:p>
            <a:pPr lvl="1"/>
            <a:r>
              <a:rPr lang="fr-FR" dirty="0" err="1"/>
              <a:t>Autoscaling</a:t>
            </a:r>
            <a:r>
              <a:rPr lang="fr-FR" dirty="0"/>
              <a:t> (0 à N instances selon le trafic)</a:t>
            </a:r>
          </a:p>
          <a:p>
            <a:pPr marL="0" indent="0">
              <a:buNone/>
            </a:pPr>
            <a:r>
              <a:rPr lang="fr-FR" b="1" dirty="0"/>
              <a:t>Configuration critique :</a:t>
            </a:r>
          </a:p>
          <a:p>
            <a:pPr lvl="1"/>
            <a:r>
              <a:rPr lang="fr-FR" dirty="0"/>
              <a:t>Port 3000 (Port par défaut de </a:t>
            </a:r>
            <a:r>
              <a:rPr lang="fr-FR" dirty="0" err="1"/>
              <a:t>BentoML</a:t>
            </a:r>
            <a:r>
              <a:rPr lang="fr-FR" dirty="0"/>
              <a:t>)</a:t>
            </a:r>
          </a:p>
          <a:p>
            <a:pPr lvl="1"/>
            <a:r>
              <a:rPr lang="fr-FR" dirty="0"/>
              <a:t>Mémoire : 2 Go (Nécessaire pour </a:t>
            </a:r>
            <a:r>
              <a:rPr lang="fr-FR" dirty="0" err="1"/>
              <a:t>Scikit-Learn</a:t>
            </a:r>
            <a:r>
              <a:rPr lang="fr-FR" dirty="0"/>
              <a:t>)</a:t>
            </a:r>
          </a:p>
          <a:p>
            <a:pPr lvl="1"/>
            <a:r>
              <a:rPr lang="fr-FR" dirty="0"/>
              <a:t>Accès public (</a:t>
            </a:r>
            <a:r>
              <a:rPr lang="fr-FR" dirty="0" err="1"/>
              <a:t>Allow</a:t>
            </a:r>
            <a:r>
              <a:rPr lang="fr-FR" dirty="0"/>
              <a:t> </a:t>
            </a:r>
            <a:r>
              <a:rPr lang="fr-FR" dirty="0" err="1"/>
              <a:t>Unauthenticated</a:t>
            </a:r>
            <a:r>
              <a:rPr lang="fr-FR" dirty="0"/>
              <a:t>)</a:t>
            </a:r>
          </a:p>
          <a:p>
            <a:endParaRPr lang="fr-FR" dirty="0"/>
          </a:p>
        </p:txBody>
      </p:sp>
      <p:pic>
        <p:nvPicPr>
          <p:cNvPr id="5" name="Image 4">
            <a:extLst>
              <a:ext uri="{FF2B5EF4-FFF2-40B4-BE49-F238E27FC236}">
                <a16:creationId xmlns:a16="http://schemas.microsoft.com/office/drawing/2014/main" id="{946A7BCA-0C4D-EFF7-5CC7-68F46F3E3A1B}"/>
              </a:ext>
            </a:extLst>
          </p:cNvPr>
          <p:cNvPicPr>
            <a:picLocks noChangeAspect="1"/>
          </p:cNvPicPr>
          <p:nvPr/>
        </p:nvPicPr>
        <p:blipFill>
          <a:blip r:embed="rId3"/>
          <a:stretch>
            <a:fillRect/>
          </a:stretch>
        </p:blipFill>
        <p:spPr>
          <a:xfrm>
            <a:off x="7180754" y="2580707"/>
            <a:ext cx="4420217" cy="3010320"/>
          </a:xfrm>
          <a:prstGeom prst="rect">
            <a:avLst/>
          </a:prstGeom>
        </p:spPr>
      </p:pic>
    </p:spTree>
    <p:extLst>
      <p:ext uri="{BB962C8B-B14F-4D97-AF65-F5344CB8AC3E}">
        <p14:creationId xmlns:p14="http://schemas.microsoft.com/office/powerpoint/2010/main" val="605460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2C6BD0-CF11-0FB3-9D8C-A6ABDF56113D}"/>
              </a:ext>
            </a:extLst>
          </p:cNvPr>
          <p:cNvSpPr>
            <a:spLocks noGrp="1"/>
          </p:cNvSpPr>
          <p:nvPr>
            <p:ph type="title"/>
          </p:nvPr>
        </p:nvSpPr>
        <p:spPr/>
        <p:txBody>
          <a:bodyPr/>
          <a:lstStyle/>
          <a:p>
            <a:r>
              <a:rPr lang="fr-FR"/>
              <a:t>Conclusion &amp; Améliorations</a:t>
            </a:r>
          </a:p>
        </p:txBody>
      </p:sp>
      <p:sp>
        <p:nvSpPr>
          <p:cNvPr id="3" name="Espace réservé du texte 2">
            <a:extLst>
              <a:ext uri="{FF2B5EF4-FFF2-40B4-BE49-F238E27FC236}">
                <a16:creationId xmlns:a16="http://schemas.microsoft.com/office/drawing/2014/main" id="{59985907-EFA6-14A6-B684-154EE394DAF7}"/>
              </a:ext>
            </a:extLst>
          </p:cNvPr>
          <p:cNvSpPr>
            <a:spLocks noGrp="1"/>
          </p:cNvSpPr>
          <p:nvPr>
            <p:ph type="body" idx="1"/>
          </p:nvPr>
        </p:nvSpPr>
        <p:spPr>
          <a:xfrm>
            <a:off x="311651" y="2615373"/>
            <a:ext cx="7729728" cy="3101983"/>
          </a:xfrm>
        </p:spPr>
        <p:txBody>
          <a:bodyPr/>
          <a:lstStyle/>
          <a:p>
            <a:pPr marL="0" indent="0">
              <a:buNone/>
            </a:pPr>
            <a:r>
              <a:rPr lang="fr-FR" b="1" dirty="0"/>
              <a:t>Bilan du projet :</a:t>
            </a:r>
          </a:p>
          <a:p>
            <a:pPr lvl="1"/>
            <a:r>
              <a:rPr lang="it-IT" dirty="0"/>
              <a:t>Pipeline complet : Raw Data -&gt; API Cloud</a:t>
            </a:r>
          </a:p>
          <a:p>
            <a:pPr lvl="1"/>
            <a:r>
              <a:rPr lang="fr-FR" dirty="0"/>
              <a:t>Code robuste et versionné (Git + </a:t>
            </a:r>
            <a:r>
              <a:rPr lang="fr-FR" dirty="0" err="1"/>
              <a:t>Poetry</a:t>
            </a:r>
            <a:r>
              <a:rPr lang="fr-FR" dirty="0"/>
              <a:t>)</a:t>
            </a:r>
          </a:p>
          <a:p>
            <a:pPr lvl="1"/>
            <a:r>
              <a:rPr lang="fr-FR" dirty="0"/>
              <a:t>Infrastructure Cloud scalable</a:t>
            </a:r>
          </a:p>
          <a:p>
            <a:pPr marL="0" indent="0">
              <a:buNone/>
            </a:pPr>
            <a:r>
              <a:rPr lang="fr-FR" b="1" dirty="0"/>
              <a:t>Améliorations futures (CI/CD) :</a:t>
            </a:r>
          </a:p>
          <a:p>
            <a:pPr lvl="1"/>
            <a:r>
              <a:rPr lang="fr-FR" dirty="0"/>
              <a:t>Automatiser le 'docker push' via GitHub Actions</a:t>
            </a:r>
          </a:p>
          <a:p>
            <a:pPr lvl="1"/>
            <a:r>
              <a:rPr lang="fr-FR" dirty="0"/>
              <a:t>Monitoring de la dérive des données (Data Drift)</a:t>
            </a:r>
          </a:p>
          <a:p>
            <a:endParaRPr lang="fr-FR" dirty="0"/>
          </a:p>
        </p:txBody>
      </p:sp>
      <p:pic>
        <p:nvPicPr>
          <p:cNvPr id="12" name="Image 11">
            <a:extLst>
              <a:ext uri="{FF2B5EF4-FFF2-40B4-BE49-F238E27FC236}">
                <a16:creationId xmlns:a16="http://schemas.microsoft.com/office/drawing/2014/main" id="{81FD4EA3-84EE-B610-BDB8-080B916A4364}"/>
              </a:ext>
            </a:extLst>
          </p:cNvPr>
          <p:cNvPicPr>
            <a:picLocks noChangeAspect="1"/>
          </p:cNvPicPr>
          <p:nvPr/>
        </p:nvPicPr>
        <p:blipFill>
          <a:blip r:embed="rId3"/>
          <a:stretch>
            <a:fillRect/>
          </a:stretch>
        </p:blipFill>
        <p:spPr>
          <a:xfrm>
            <a:off x="5242743" y="2615373"/>
            <a:ext cx="6478908" cy="3476233"/>
          </a:xfrm>
          <a:prstGeom prst="rect">
            <a:avLst/>
          </a:prstGeom>
        </p:spPr>
      </p:pic>
    </p:spTree>
    <p:extLst>
      <p:ext uri="{BB962C8B-B14F-4D97-AF65-F5344CB8AC3E}">
        <p14:creationId xmlns:p14="http://schemas.microsoft.com/office/powerpoint/2010/main" val="250117949"/>
      </p:ext>
    </p:extLst>
  </p:cSld>
  <p:clrMapOvr>
    <a:masterClrMapping/>
  </p:clrMapOvr>
</p:sld>
</file>

<file path=ppt/theme/theme1.xml><?xml version="1.0" encoding="utf-8"?>
<a:theme xmlns:a="http://schemas.openxmlformats.org/drawingml/2006/main" name="Colis">
  <a:themeElements>
    <a:clrScheme name="Colis">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Colis">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lis">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Colis</Template>
  <TotalTime>136</TotalTime>
  <Words>1286</Words>
  <Application>Microsoft Office PowerPoint</Application>
  <PresentationFormat>Grand écran</PresentationFormat>
  <Paragraphs>106</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Arial</vt:lpstr>
      <vt:lpstr>Gill Sans MT</vt:lpstr>
      <vt:lpstr>Colis</vt:lpstr>
      <vt:lpstr>Projet 6 : Prédiction de la Consommation Électrique</vt:lpstr>
      <vt:lpstr>Contexte &amp; Objectifs</vt:lpstr>
      <vt:lpstr>1. Nettoyage &amp; Feature Engineering</vt:lpstr>
      <vt:lpstr>2. Modélisation &amp; Choix du Modèle</vt:lpstr>
      <vt:lpstr>3. Structuration du Code (Local)</vt:lpstr>
      <vt:lpstr>4. Création de l'API avec BentoML</vt:lpstr>
      <vt:lpstr>5. Conteneurisation (Docker)</vt:lpstr>
      <vt:lpstr>6. Cloud Google : Stockage (Artifact Registry)</vt:lpstr>
      <vt:lpstr>7. Cloud Google : Déploiement (Cloud Run)</vt:lpstr>
      <vt:lpstr>Conclusion &amp; Améliorations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Travail</dc:creator>
  <cp:lastModifiedBy>Travail</cp:lastModifiedBy>
  <cp:revision>6</cp:revision>
  <dcterms:created xsi:type="dcterms:W3CDTF">2026-01-22T12:17:22Z</dcterms:created>
  <dcterms:modified xsi:type="dcterms:W3CDTF">2026-01-27T11:48:56Z</dcterms:modified>
</cp:coreProperties>
</file>