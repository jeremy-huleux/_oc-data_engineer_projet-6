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59" r:id="rId4"/>
    <p:sldId id="260" r:id="rId5"/>
    <p:sldId id="261" r:id="rId6"/>
    <p:sldId id="262" r:id="rId7"/>
    <p:sldId id="263" r:id="rId8"/>
    <p:sldId id="264" r:id="rId9"/>
    <p:sldId id="265" r:id="rId10"/>
    <p:sldId id="256"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4" autoAdjust="0"/>
    <p:restoredTop sz="94660"/>
  </p:normalViewPr>
  <p:slideViewPr>
    <p:cSldViewPr snapToGrid="0">
      <p:cViewPr varScale="1">
        <p:scale>
          <a:sx n="86" d="100"/>
          <a:sy n="86" d="100"/>
        </p:scale>
        <p:origin x="114" y="47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C75B7C-4125-48EF-AD09-C774DA50A40D}" type="datetimeFigureOut">
              <a:rPr lang="fr-FR" smtClean="0"/>
              <a:t>09/01/2026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ED632B-1C2F-4185-9A55-BDC6A7D58B1E}" type="slidenum">
              <a:rPr lang="fr-FR" smtClean="0"/>
              <a:t>‹N°›</a:t>
            </a:fld>
            <a:endParaRPr lang="fr-FR"/>
          </a:p>
        </p:txBody>
      </p:sp>
    </p:spTree>
    <p:extLst>
      <p:ext uri="{BB962C8B-B14F-4D97-AF65-F5344CB8AC3E}">
        <p14:creationId xmlns:p14="http://schemas.microsoft.com/office/powerpoint/2010/main" val="717828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Bonjour à tous. Je vais vous présenter mon projet réalisé pour la ville de Seattle.</a:t>
            </a:r>
          </a:p>
          <a:p>
            <a:r>
              <a:rPr lang="fr-FR"/>
              <a:t>L'objectif de cette mission est double : prédire la consommation et les émissions de CO2 des bâtiments non résidentiels, mais surtout déterminer si le relevé de l'ENERGYSTARScore est utile et doit être maintenu.</a:t>
            </a:r>
          </a:p>
        </p:txBody>
      </p:sp>
      <p:sp>
        <p:nvSpPr>
          <p:cNvPr id="4" name="Espace réservé du numéro de diapositive 3"/>
          <p:cNvSpPr>
            <a:spLocks noGrp="1"/>
          </p:cNvSpPr>
          <p:nvPr>
            <p:ph type="sldNum" sz="quarter" idx="5"/>
          </p:nvPr>
        </p:nvSpPr>
        <p:spPr/>
        <p:txBody>
          <a:bodyPr/>
          <a:lstStyle/>
          <a:p>
            <a:fld id="{76ED632B-1C2F-4185-9A55-BDC6A7D58B1E}" type="slidenum">
              <a:rPr lang="fr-FR" smtClean="0"/>
              <a:t>1</a:t>
            </a:fld>
            <a:endParaRPr lang="fr-FR"/>
          </a:p>
        </p:txBody>
      </p:sp>
    </p:spTree>
    <p:extLst>
      <p:ext uri="{BB962C8B-B14F-4D97-AF65-F5344CB8AC3E}">
        <p14:creationId xmlns:p14="http://schemas.microsoft.com/office/powerpoint/2010/main" val="4110697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 ville s'est fixée un objectif ambitieux de neutralité carbone. Actuellement, le suivi de la consommation demande des relevés fastidieux.</a:t>
            </a:r>
          </a:p>
          <a:p>
            <a:r>
              <a:rPr lang="fr-FR"/>
              <a:t>Ma mission est de voir si on peut prédire ces valeurs fiablements grâce au Machine Learning, et surtout de trancher une question budgétaire : est-ce que ça vaut le coup de continuer à payer pour calculer le score EnergyStar ?</a:t>
            </a:r>
          </a:p>
        </p:txBody>
      </p:sp>
      <p:sp>
        <p:nvSpPr>
          <p:cNvPr id="4" name="Espace réservé du numéro de diapositive 3"/>
          <p:cNvSpPr>
            <a:spLocks noGrp="1"/>
          </p:cNvSpPr>
          <p:nvPr>
            <p:ph type="sldNum" sz="quarter" idx="5"/>
          </p:nvPr>
        </p:nvSpPr>
        <p:spPr/>
        <p:txBody>
          <a:bodyPr/>
          <a:lstStyle/>
          <a:p>
            <a:fld id="{76ED632B-1C2F-4185-9A55-BDC6A7D58B1E}" type="slidenum">
              <a:rPr lang="fr-FR" smtClean="0"/>
              <a:t>2</a:t>
            </a:fld>
            <a:endParaRPr lang="fr-FR"/>
          </a:p>
        </p:txBody>
      </p:sp>
    </p:spTree>
    <p:extLst>
      <p:ext uri="{BB962C8B-B14F-4D97-AF65-F5344CB8AC3E}">
        <p14:creationId xmlns:p14="http://schemas.microsoft.com/office/powerpoint/2010/main" val="3413286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J'ai commencé par nettoyer les données de 2016. J'ai filtré pour ne garder que les bâtiments non-résidentiels.</a:t>
            </a:r>
          </a:p>
          <a:p>
            <a:r>
              <a:rPr lang="fr-FR"/>
              <a:t>Point technique important : j'ai appliqué une transformation Logarithmique sur les cibles. Pourquoi ? Parce qu'entre une petite boutique et un gratte-ciel, les écarts de consommation sont trop grands pour un modèle linéaire classique.</a:t>
            </a:r>
          </a:p>
        </p:txBody>
      </p:sp>
      <p:sp>
        <p:nvSpPr>
          <p:cNvPr id="4" name="Espace réservé du numéro de diapositive 3"/>
          <p:cNvSpPr>
            <a:spLocks noGrp="1"/>
          </p:cNvSpPr>
          <p:nvPr>
            <p:ph type="sldNum" sz="quarter" idx="5"/>
          </p:nvPr>
        </p:nvSpPr>
        <p:spPr/>
        <p:txBody>
          <a:bodyPr/>
          <a:lstStyle/>
          <a:p>
            <a:fld id="{76ED632B-1C2F-4185-9A55-BDC6A7D58B1E}" type="slidenum">
              <a:rPr lang="fr-FR" smtClean="0"/>
              <a:t>3</a:t>
            </a:fld>
            <a:endParaRPr lang="fr-FR"/>
          </a:p>
        </p:txBody>
      </p:sp>
    </p:spTree>
    <p:extLst>
      <p:ext uri="{BB962C8B-B14F-4D97-AF65-F5344CB8AC3E}">
        <p14:creationId xmlns:p14="http://schemas.microsoft.com/office/powerpoint/2010/main" val="667591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Avant de modéliser, j'ai cherché à comprendre les liens entre les variables. Voici la matrice de corrélation sur le jeu d'entraînement.</a:t>
            </a:r>
          </a:p>
          <a:p>
            <a:r>
              <a:rPr lang="fr-FR"/>
              <a:t>Sans surprise, la surface est le facteur n°1. J'ai aussi détecté des variables qui disaient la même chose (colinéarité) et je les ai supprimées pour ne pas troubler le modèle.</a:t>
            </a:r>
          </a:p>
        </p:txBody>
      </p:sp>
      <p:sp>
        <p:nvSpPr>
          <p:cNvPr id="4" name="Espace réservé du numéro de diapositive 3"/>
          <p:cNvSpPr>
            <a:spLocks noGrp="1"/>
          </p:cNvSpPr>
          <p:nvPr>
            <p:ph type="sldNum" sz="quarter" idx="5"/>
          </p:nvPr>
        </p:nvSpPr>
        <p:spPr/>
        <p:txBody>
          <a:bodyPr/>
          <a:lstStyle/>
          <a:p>
            <a:fld id="{76ED632B-1C2F-4185-9A55-BDC6A7D58B1E}" type="slidenum">
              <a:rPr lang="fr-FR" smtClean="0"/>
              <a:t>4</a:t>
            </a:fld>
            <a:endParaRPr lang="fr-FR"/>
          </a:p>
        </p:txBody>
      </p:sp>
    </p:spTree>
    <p:extLst>
      <p:ext uri="{BB962C8B-B14F-4D97-AF65-F5344CB8AC3E}">
        <p14:creationId xmlns:p14="http://schemas.microsoft.com/office/powerpoint/2010/main" val="351925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la modélisation, j'ai adopté une approche rigoureuse avec un Pipeline Sklearn. J'ai normalisé les chiffres et encodé le texte.</a:t>
            </a:r>
          </a:p>
          <a:p>
            <a:r>
              <a:rPr lang="fr-FR"/>
              <a:t>J'ai testé 3 approches : une naïve (la moyenne), une simple (linéaire) et une complexe (Forêt aléatoire) pour voir si le problème nécessitait de la puissance de calcul.</a:t>
            </a:r>
          </a:p>
        </p:txBody>
      </p:sp>
      <p:sp>
        <p:nvSpPr>
          <p:cNvPr id="4" name="Espace réservé du numéro de diapositive 3"/>
          <p:cNvSpPr>
            <a:spLocks noGrp="1"/>
          </p:cNvSpPr>
          <p:nvPr>
            <p:ph type="sldNum" sz="quarter" idx="5"/>
          </p:nvPr>
        </p:nvSpPr>
        <p:spPr/>
        <p:txBody>
          <a:bodyPr/>
          <a:lstStyle/>
          <a:p>
            <a:fld id="{76ED632B-1C2F-4185-9A55-BDC6A7D58B1E}" type="slidenum">
              <a:rPr lang="fr-FR" smtClean="0"/>
              <a:t>5</a:t>
            </a:fld>
            <a:endParaRPr lang="fr-FR"/>
          </a:p>
        </p:txBody>
      </p:sp>
    </p:spTree>
    <p:extLst>
      <p:ext uri="{BB962C8B-B14F-4D97-AF65-F5344CB8AC3E}">
        <p14:creationId xmlns:p14="http://schemas.microsoft.com/office/powerpoint/2010/main" val="729085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Voici les résultats. Le modèle linéaire échoue avec un score de 0.15, ce qui prouve que la consommation ne suit pas une simple ligne droite.</a:t>
            </a:r>
          </a:p>
          <a:p>
            <a:r>
              <a:rPr lang="fr-FR"/>
              <a:t>En revanche, le Random Forest grimpe à 0.57. C'est une victoire : il arrive à capter les interactions complexes entre l'âge, le type de bâtiment et sa localisation.</a:t>
            </a:r>
          </a:p>
        </p:txBody>
      </p:sp>
      <p:sp>
        <p:nvSpPr>
          <p:cNvPr id="4" name="Espace réservé du numéro de diapositive 3"/>
          <p:cNvSpPr>
            <a:spLocks noGrp="1"/>
          </p:cNvSpPr>
          <p:nvPr>
            <p:ph type="sldNum" sz="quarter" idx="5"/>
          </p:nvPr>
        </p:nvSpPr>
        <p:spPr/>
        <p:txBody>
          <a:bodyPr/>
          <a:lstStyle/>
          <a:p>
            <a:fld id="{76ED632B-1C2F-4185-9A55-BDC6A7D58B1E}" type="slidenum">
              <a:rPr lang="fr-FR" smtClean="0"/>
              <a:t>6</a:t>
            </a:fld>
            <a:endParaRPr lang="fr-FR"/>
          </a:p>
        </p:txBody>
      </p:sp>
    </p:spTree>
    <p:extLst>
      <p:ext uri="{BB962C8B-B14F-4D97-AF65-F5344CB8AC3E}">
        <p14:creationId xmlns:p14="http://schemas.microsoft.com/office/powerpoint/2010/main" val="2704951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C'est la slide la plus importante pour la ville. J'ai demandé au modèle quelles variables l'aidaient le plus.</a:t>
            </a:r>
          </a:p>
          <a:p>
            <a:r>
              <a:rPr lang="fr-FR"/>
              <a:t>Comme vous le voyez sur ce graphique, l'ENERGYSTARScore arrive en 2ème position, juste après la surface. C'est donc une information capitale pour la précision des prédictions.</a:t>
            </a:r>
          </a:p>
        </p:txBody>
      </p:sp>
      <p:sp>
        <p:nvSpPr>
          <p:cNvPr id="4" name="Espace réservé du numéro de diapositive 3"/>
          <p:cNvSpPr>
            <a:spLocks noGrp="1"/>
          </p:cNvSpPr>
          <p:nvPr>
            <p:ph type="sldNum" sz="quarter" idx="5"/>
          </p:nvPr>
        </p:nvSpPr>
        <p:spPr/>
        <p:txBody>
          <a:bodyPr/>
          <a:lstStyle/>
          <a:p>
            <a:fld id="{76ED632B-1C2F-4185-9A55-BDC6A7D58B1E}" type="slidenum">
              <a:rPr lang="fr-FR" smtClean="0"/>
              <a:t>7</a:t>
            </a:fld>
            <a:endParaRPr lang="fr-FR"/>
          </a:p>
        </p:txBody>
      </p:sp>
    </p:spTree>
    <p:extLst>
      <p:ext uri="{BB962C8B-B14F-4D97-AF65-F5344CB8AC3E}">
        <p14:creationId xmlns:p14="http://schemas.microsoft.com/office/powerpoint/2010/main" val="1992348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J'ai appliqué la même méthode pour le CO2. Le score est un peu plus bas (0.50), ce qui est normal car nous n'avons pas le détail exact des chaudières (gaz ou électrique).</a:t>
            </a:r>
          </a:p>
          <a:p>
            <a:r>
              <a:rPr lang="fr-FR"/>
              <a:t>Cependant, le constat reste le même : l'EnergyStar reste le 2ème facteur déterminant.</a:t>
            </a:r>
          </a:p>
        </p:txBody>
      </p:sp>
      <p:sp>
        <p:nvSpPr>
          <p:cNvPr id="4" name="Espace réservé du numéro de diapositive 3"/>
          <p:cNvSpPr>
            <a:spLocks noGrp="1"/>
          </p:cNvSpPr>
          <p:nvPr>
            <p:ph type="sldNum" sz="quarter" idx="5"/>
          </p:nvPr>
        </p:nvSpPr>
        <p:spPr/>
        <p:txBody>
          <a:bodyPr/>
          <a:lstStyle/>
          <a:p>
            <a:fld id="{76ED632B-1C2F-4185-9A55-BDC6A7D58B1E}" type="slidenum">
              <a:rPr lang="fr-FR" smtClean="0"/>
              <a:t>8</a:t>
            </a:fld>
            <a:endParaRPr lang="fr-FR"/>
          </a:p>
        </p:txBody>
      </p:sp>
    </p:spTree>
    <p:extLst>
      <p:ext uri="{BB962C8B-B14F-4D97-AF65-F5344CB8AC3E}">
        <p14:creationId xmlns:p14="http://schemas.microsoft.com/office/powerpoint/2010/main" val="6275581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conclure, nous avons un modèle fonctionnel basé sur des forêts aléatoires.</a:t>
            </a:r>
          </a:p>
          <a:p>
            <a:r>
              <a:rPr lang="fr-FR"/>
              <a:t>À la question 'Peut-on se passer de l'EnergyStar ?', ma réponse basée sur les données est NON. C'est un levier majeur de prédiction. Je recommande donc de maintenir sa collecte.</a:t>
            </a:r>
          </a:p>
        </p:txBody>
      </p:sp>
      <p:sp>
        <p:nvSpPr>
          <p:cNvPr id="4" name="Espace réservé du numéro de diapositive 3"/>
          <p:cNvSpPr>
            <a:spLocks noGrp="1"/>
          </p:cNvSpPr>
          <p:nvPr>
            <p:ph type="sldNum" sz="quarter" idx="5"/>
          </p:nvPr>
        </p:nvSpPr>
        <p:spPr/>
        <p:txBody>
          <a:bodyPr/>
          <a:lstStyle/>
          <a:p>
            <a:fld id="{76ED632B-1C2F-4185-9A55-BDC6A7D58B1E}" type="slidenum">
              <a:rPr lang="fr-FR" smtClean="0"/>
              <a:t>9</a:t>
            </a:fld>
            <a:endParaRPr lang="fr-FR"/>
          </a:p>
        </p:txBody>
      </p:sp>
    </p:spTree>
    <p:extLst>
      <p:ext uri="{BB962C8B-B14F-4D97-AF65-F5344CB8AC3E}">
        <p14:creationId xmlns:p14="http://schemas.microsoft.com/office/powerpoint/2010/main" val="1105641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02858F-76F4-0110-B82B-0A24DEFAB2E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64F9CF1-B1A5-3748-FCD0-9C86E553B2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C5EEBAF-FE63-0856-0415-A8DEB2BF0BA2}"/>
              </a:ext>
            </a:extLst>
          </p:cNvPr>
          <p:cNvSpPr>
            <a:spLocks noGrp="1"/>
          </p:cNvSpPr>
          <p:nvPr>
            <p:ph type="dt" sz="half" idx="10"/>
          </p:nvPr>
        </p:nvSpPr>
        <p:spPr/>
        <p:txBody>
          <a:bodyPr/>
          <a:lstStyle/>
          <a:p>
            <a:fld id="{B1275688-4B01-4FD0-9E04-F4A2A060DD7F}" type="datetimeFigureOut">
              <a:rPr lang="fr-FR" smtClean="0"/>
              <a:t>09/01/2026</a:t>
            </a:fld>
            <a:endParaRPr lang="fr-FR"/>
          </a:p>
        </p:txBody>
      </p:sp>
      <p:sp>
        <p:nvSpPr>
          <p:cNvPr id="5" name="Espace réservé du pied de page 4">
            <a:extLst>
              <a:ext uri="{FF2B5EF4-FFF2-40B4-BE49-F238E27FC236}">
                <a16:creationId xmlns:a16="http://schemas.microsoft.com/office/drawing/2014/main" id="{71FF7349-E243-F3B5-EFF4-D9E545FE66B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5253AEB-16F4-4670-5D4C-C6C74E666243}"/>
              </a:ext>
            </a:extLst>
          </p:cNvPr>
          <p:cNvSpPr>
            <a:spLocks noGrp="1"/>
          </p:cNvSpPr>
          <p:nvPr>
            <p:ph type="sldNum" sz="quarter" idx="12"/>
          </p:nvPr>
        </p:nvSpPr>
        <p:spPr/>
        <p:txBody>
          <a:bodyPr/>
          <a:lstStyle/>
          <a:p>
            <a:fld id="{E77B3B79-2A23-46BF-893E-51527D99A7C7}" type="slidenum">
              <a:rPr lang="fr-FR" smtClean="0"/>
              <a:t>‹N°›</a:t>
            </a:fld>
            <a:endParaRPr lang="fr-FR"/>
          </a:p>
        </p:txBody>
      </p:sp>
    </p:spTree>
    <p:extLst>
      <p:ext uri="{BB962C8B-B14F-4D97-AF65-F5344CB8AC3E}">
        <p14:creationId xmlns:p14="http://schemas.microsoft.com/office/powerpoint/2010/main" val="2407680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82AC43-5CA9-A8AF-EB62-BE96268853B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0EB66E1-6E9F-8E07-50A3-BEADE1D23A5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77D9267-E0AA-849D-CF5E-38F29191D1E6}"/>
              </a:ext>
            </a:extLst>
          </p:cNvPr>
          <p:cNvSpPr>
            <a:spLocks noGrp="1"/>
          </p:cNvSpPr>
          <p:nvPr>
            <p:ph type="dt" sz="half" idx="10"/>
          </p:nvPr>
        </p:nvSpPr>
        <p:spPr/>
        <p:txBody>
          <a:bodyPr/>
          <a:lstStyle/>
          <a:p>
            <a:fld id="{B1275688-4B01-4FD0-9E04-F4A2A060DD7F}" type="datetimeFigureOut">
              <a:rPr lang="fr-FR" smtClean="0"/>
              <a:t>09/01/2026</a:t>
            </a:fld>
            <a:endParaRPr lang="fr-FR"/>
          </a:p>
        </p:txBody>
      </p:sp>
      <p:sp>
        <p:nvSpPr>
          <p:cNvPr id="5" name="Espace réservé du pied de page 4">
            <a:extLst>
              <a:ext uri="{FF2B5EF4-FFF2-40B4-BE49-F238E27FC236}">
                <a16:creationId xmlns:a16="http://schemas.microsoft.com/office/drawing/2014/main" id="{0D54194D-F45F-8523-27EF-40BCE36898F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756E0F7-D783-443F-CB08-7B34E02B607A}"/>
              </a:ext>
            </a:extLst>
          </p:cNvPr>
          <p:cNvSpPr>
            <a:spLocks noGrp="1"/>
          </p:cNvSpPr>
          <p:nvPr>
            <p:ph type="sldNum" sz="quarter" idx="12"/>
          </p:nvPr>
        </p:nvSpPr>
        <p:spPr/>
        <p:txBody>
          <a:bodyPr/>
          <a:lstStyle/>
          <a:p>
            <a:fld id="{E77B3B79-2A23-46BF-893E-51527D99A7C7}" type="slidenum">
              <a:rPr lang="fr-FR" smtClean="0"/>
              <a:t>‹N°›</a:t>
            </a:fld>
            <a:endParaRPr lang="fr-FR"/>
          </a:p>
        </p:txBody>
      </p:sp>
    </p:spTree>
    <p:extLst>
      <p:ext uri="{BB962C8B-B14F-4D97-AF65-F5344CB8AC3E}">
        <p14:creationId xmlns:p14="http://schemas.microsoft.com/office/powerpoint/2010/main" val="432589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CAD89C-CFE8-6C96-31E6-B28524267CA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07B6DAC-EC1F-CFBF-3C75-6D667E480E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D21627B-8953-A098-01F7-88D2F02E9C89}"/>
              </a:ext>
            </a:extLst>
          </p:cNvPr>
          <p:cNvSpPr>
            <a:spLocks noGrp="1"/>
          </p:cNvSpPr>
          <p:nvPr>
            <p:ph type="dt" sz="half" idx="10"/>
          </p:nvPr>
        </p:nvSpPr>
        <p:spPr/>
        <p:txBody>
          <a:bodyPr/>
          <a:lstStyle/>
          <a:p>
            <a:fld id="{B1275688-4B01-4FD0-9E04-F4A2A060DD7F}" type="datetimeFigureOut">
              <a:rPr lang="fr-FR" smtClean="0"/>
              <a:t>09/01/2026</a:t>
            </a:fld>
            <a:endParaRPr lang="fr-FR"/>
          </a:p>
        </p:txBody>
      </p:sp>
      <p:sp>
        <p:nvSpPr>
          <p:cNvPr id="5" name="Espace réservé du pied de page 4">
            <a:extLst>
              <a:ext uri="{FF2B5EF4-FFF2-40B4-BE49-F238E27FC236}">
                <a16:creationId xmlns:a16="http://schemas.microsoft.com/office/drawing/2014/main" id="{C71F8997-BAAD-476C-2443-8F91630BC08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DD06964-6D36-34C8-DD59-4E71EA8A36CD}"/>
              </a:ext>
            </a:extLst>
          </p:cNvPr>
          <p:cNvSpPr>
            <a:spLocks noGrp="1"/>
          </p:cNvSpPr>
          <p:nvPr>
            <p:ph type="sldNum" sz="quarter" idx="12"/>
          </p:nvPr>
        </p:nvSpPr>
        <p:spPr/>
        <p:txBody>
          <a:bodyPr/>
          <a:lstStyle/>
          <a:p>
            <a:fld id="{E77B3B79-2A23-46BF-893E-51527D99A7C7}" type="slidenum">
              <a:rPr lang="fr-FR" smtClean="0"/>
              <a:t>‹N°›</a:t>
            </a:fld>
            <a:endParaRPr lang="fr-FR"/>
          </a:p>
        </p:txBody>
      </p:sp>
    </p:spTree>
    <p:extLst>
      <p:ext uri="{BB962C8B-B14F-4D97-AF65-F5344CB8AC3E}">
        <p14:creationId xmlns:p14="http://schemas.microsoft.com/office/powerpoint/2010/main" val="1578997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149AFF-1C6B-5690-70F3-9DE96CCFCFF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8CBF7B0-F5D2-D755-F1D1-A06CC927ED3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73D7953-9972-F78B-F0CD-263D672D1BF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504AD9F-E0A5-DB5B-7041-B189D06B4787}"/>
              </a:ext>
            </a:extLst>
          </p:cNvPr>
          <p:cNvSpPr>
            <a:spLocks noGrp="1"/>
          </p:cNvSpPr>
          <p:nvPr>
            <p:ph type="dt" sz="half" idx="10"/>
          </p:nvPr>
        </p:nvSpPr>
        <p:spPr/>
        <p:txBody>
          <a:bodyPr/>
          <a:lstStyle/>
          <a:p>
            <a:fld id="{B1275688-4B01-4FD0-9E04-F4A2A060DD7F}" type="datetimeFigureOut">
              <a:rPr lang="fr-FR" smtClean="0"/>
              <a:t>09/01/2026</a:t>
            </a:fld>
            <a:endParaRPr lang="fr-FR"/>
          </a:p>
        </p:txBody>
      </p:sp>
      <p:sp>
        <p:nvSpPr>
          <p:cNvPr id="6" name="Espace réservé du pied de page 5">
            <a:extLst>
              <a:ext uri="{FF2B5EF4-FFF2-40B4-BE49-F238E27FC236}">
                <a16:creationId xmlns:a16="http://schemas.microsoft.com/office/drawing/2014/main" id="{29571800-CE07-1E09-C7D2-C72AC8772D8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E15796B-8A7B-82F0-AF88-58BFD548793F}"/>
              </a:ext>
            </a:extLst>
          </p:cNvPr>
          <p:cNvSpPr>
            <a:spLocks noGrp="1"/>
          </p:cNvSpPr>
          <p:nvPr>
            <p:ph type="sldNum" sz="quarter" idx="12"/>
          </p:nvPr>
        </p:nvSpPr>
        <p:spPr/>
        <p:txBody>
          <a:bodyPr/>
          <a:lstStyle/>
          <a:p>
            <a:fld id="{E77B3B79-2A23-46BF-893E-51527D99A7C7}" type="slidenum">
              <a:rPr lang="fr-FR" smtClean="0"/>
              <a:t>‹N°›</a:t>
            </a:fld>
            <a:endParaRPr lang="fr-FR"/>
          </a:p>
        </p:txBody>
      </p:sp>
    </p:spTree>
    <p:extLst>
      <p:ext uri="{BB962C8B-B14F-4D97-AF65-F5344CB8AC3E}">
        <p14:creationId xmlns:p14="http://schemas.microsoft.com/office/powerpoint/2010/main" val="103624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477B29-9946-5006-9B13-7CAB365AED0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B81BFBA-6F00-44FB-AD5C-8A630E438B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B2DD18A9-3D27-4234-1E92-50671D047FD8}"/>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C416D46-A4ED-6585-C6BC-C55D708B23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0692393-9DC9-C3FB-C8C7-BB88B1305EA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FE6009A-1B70-CD0F-D246-38AFB6E3D0AA}"/>
              </a:ext>
            </a:extLst>
          </p:cNvPr>
          <p:cNvSpPr>
            <a:spLocks noGrp="1"/>
          </p:cNvSpPr>
          <p:nvPr>
            <p:ph type="dt" sz="half" idx="10"/>
          </p:nvPr>
        </p:nvSpPr>
        <p:spPr/>
        <p:txBody>
          <a:bodyPr/>
          <a:lstStyle/>
          <a:p>
            <a:fld id="{B1275688-4B01-4FD0-9E04-F4A2A060DD7F}" type="datetimeFigureOut">
              <a:rPr lang="fr-FR" smtClean="0"/>
              <a:t>09/01/2026</a:t>
            </a:fld>
            <a:endParaRPr lang="fr-FR"/>
          </a:p>
        </p:txBody>
      </p:sp>
      <p:sp>
        <p:nvSpPr>
          <p:cNvPr id="8" name="Espace réservé du pied de page 7">
            <a:extLst>
              <a:ext uri="{FF2B5EF4-FFF2-40B4-BE49-F238E27FC236}">
                <a16:creationId xmlns:a16="http://schemas.microsoft.com/office/drawing/2014/main" id="{55F3E648-3F16-E6B8-843A-1D8F54D9091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0736542A-466C-9F21-D82E-E9ACFB8AC9C2}"/>
              </a:ext>
            </a:extLst>
          </p:cNvPr>
          <p:cNvSpPr>
            <a:spLocks noGrp="1"/>
          </p:cNvSpPr>
          <p:nvPr>
            <p:ph type="sldNum" sz="quarter" idx="12"/>
          </p:nvPr>
        </p:nvSpPr>
        <p:spPr/>
        <p:txBody>
          <a:bodyPr/>
          <a:lstStyle/>
          <a:p>
            <a:fld id="{E77B3B79-2A23-46BF-893E-51527D99A7C7}" type="slidenum">
              <a:rPr lang="fr-FR" smtClean="0"/>
              <a:t>‹N°›</a:t>
            </a:fld>
            <a:endParaRPr lang="fr-FR"/>
          </a:p>
        </p:txBody>
      </p:sp>
    </p:spTree>
    <p:extLst>
      <p:ext uri="{BB962C8B-B14F-4D97-AF65-F5344CB8AC3E}">
        <p14:creationId xmlns:p14="http://schemas.microsoft.com/office/powerpoint/2010/main" val="1523213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F876C7-67D3-1816-B57A-3CE11C58CA3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3898FE1C-F23C-7E13-4A90-B4B628051B16}"/>
              </a:ext>
            </a:extLst>
          </p:cNvPr>
          <p:cNvSpPr>
            <a:spLocks noGrp="1"/>
          </p:cNvSpPr>
          <p:nvPr>
            <p:ph type="dt" sz="half" idx="10"/>
          </p:nvPr>
        </p:nvSpPr>
        <p:spPr/>
        <p:txBody>
          <a:bodyPr/>
          <a:lstStyle/>
          <a:p>
            <a:fld id="{B1275688-4B01-4FD0-9E04-F4A2A060DD7F}" type="datetimeFigureOut">
              <a:rPr lang="fr-FR" smtClean="0"/>
              <a:t>09/01/2026</a:t>
            </a:fld>
            <a:endParaRPr lang="fr-FR"/>
          </a:p>
        </p:txBody>
      </p:sp>
      <p:sp>
        <p:nvSpPr>
          <p:cNvPr id="4" name="Espace réservé du pied de page 3">
            <a:extLst>
              <a:ext uri="{FF2B5EF4-FFF2-40B4-BE49-F238E27FC236}">
                <a16:creationId xmlns:a16="http://schemas.microsoft.com/office/drawing/2014/main" id="{78540140-FA4C-E597-8105-E732DBBF5355}"/>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FAF5828C-AF69-5D9D-45C5-881362A730A2}"/>
              </a:ext>
            </a:extLst>
          </p:cNvPr>
          <p:cNvSpPr>
            <a:spLocks noGrp="1"/>
          </p:cNvSpPr>
          <p:nvPr>
            <p:ph type="sldNum" sz="quarter" idx="12"/>
          </p:nvPr>
        </p:nvSpPr>
        <p:spPr/>
        <p:txBody>
          <a:bodyPr/>
          <a:lstStyle/>
          <a:p>
            <a:fld id="{E77B3B79-2A23-46BF-893E-51527D99A7C7}" type="slidenum">
              <a:rPr lang="fr-FR" smtClean="0"/>
              <a:t>‹N°›</a:t>
            </a:fld>
            <a:endParaRPr lang="fr-FR"/>
          </a:p>
        </p:txBody>
      </p:sp>
    </p:spTree>
    <p:extLst>
      <p:ext uri="{BB962C8B-B14F-4D97-AF65-F5344CB8AC3E}">
        <p14:creationId xmlns:p14="http://schemas.microsoft.com/office/powerpoint/2010/main" val="48291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F5A13D4-6F80-569D-2A1D-2A06A3329D45}"/>
              </a:ext>
            </a:extLst>
          </p:cNvPr>
          <p:cNvSpPr>
            <a:spLocks noGrp="1"/>
          </p:cNvSpPr>
          <p:nvPr>
            <p:ph type="dt" sz="half" idx="10"/>
          </p:nvPr>
        </p:nvSpPr>
        <p:spPr/>
        <p:txBody>
          <a:bodyPr/>
          <a:lstStyle/>
          <a:p>
            <a:fld id="{B1275688-4B01-4FD0-9E04-F4A2A060DD7F}" type="datetimeFigureOut">
              <a:rPr lang="fr-FR" smtClean="0"/>
              <a:t>09/01/2026</a:t>
            </a:fld>
            <a:endParaRPr lang="fr-FR"/>
          </a:p>
        </p:txBody>
      </p:sp>
      <p:sp>
        <p:nvSpPr>
          <p:cNvPr id="3" name="Espace réservé du pied de page 2">
            <a:extLst>
              <a:ext uri="{FF2B5EF4-FFF2-40B4-BE49-F238E27FC236}">
                <a16:creationId xmlns:a16="http://schemas.microsoft.com/office/drawing/2014/main" id="{8EE80E1D-F72F-17D8-0236-6261E4349171}"/>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C8DC25A-A06D-A688-35DC-9EEC91CAB305}"/>
              </a:ext>
            </a:extLst>
          </p:cNvPr>
          <p:cNvSpPr>
            <a:spLocks noGrp="1"/>
          </p:cNvSpPr>
          <p:nvPr>
            <p:ph type="sldNum" sz="quarter" idx="12"/>
          </p:nvPr>
        </p:nvSpPr>
        <p:spPr/>
        <p:txBody>
          <a:bodyPr/>
          <a:lstStyle/>
          <a:p>
            <a:fld id="{E77B3B79-2A23-46BF-893E-51527D99A7C7}" type="slidenum">
              <a:rPr lang="fr-FR" smtClean="0"/>
              <a:t>‹N°›</a:t>
            </a:fld>
            <a:endParaRPr lang="fr-FR"/>
          </a:p>
        </p:txBody>
      </p:sp>
    </p:spTree>
    <p:extLst>
      <p:ext uri="{BB962C8B-B14F-4D97-AF65-F5344CB8AC3E}">
        <p14:creationId xmlns:p14="http://schemas.microsoft.com/office/powerpoint/2010/main" val="1388689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B98ACF-35F3-9E93-CA99-4BDE37823D6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94DE9EC4-476D-1D78-2DC7-CF16AFC0BD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E06DD025-6528-38DA-ACEF-324FE6D649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1B57673-8141-6725-0B34-494CA1F6665F}"/>
              </a:ext>
            </a:extLst>
          </p:cNvPr>
          <p:cNvSpPr>
            <a:spLocks noGrp="1"/>
          </p:cNvSpPr>
          <p:nvPr>
            <p:ph type="dt" sz="half" idx="10"/>
          </p:nvPr>
        </p:nvSpPr>
        <p:spPr/>
        <p:txBody>
          <a:bodyPr/>
          <a:lstStyle/>
          <a:p>
            <a:fld id="{B1275688-4B01-4FD0-9E04-F4A2A060DD7F}" type="datetimeFigureOut">
              <a:rPr lang="fr-FR" smtClean="0"/>
              <a:t>09/01/2026</a:t>
            </a:fld>
            <a:endParaRPr lang="fr-FR"/>
          </a:p>
        </p:txBody>
      </p:sp>
      <p:sp>
        <p:nvSpPr>
          <p:cNvPr id="6" name="Espace réservé du pied de page 5">
            <a:extLst>
              <a:ext uri="{FF2B5EF4-FFF2-40B4-BE49-F238E27FC236}">
                <a16:creationId xmlns:a16="http://schemas.microsoft.com/office/drawing/2014/main" id="{5069EFD0-9830-002B-199E-C3CD49B4FE0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8E453B5-C717-BDCF-0F01-27772CF4BFE4}"/>
              </a:ext>
            </a:extLst>
          </p:cNvPr>
          <p:cNvSpPr>
            <a:spLocks noGrp="1"/>
          </p:cNvSpPr>
          <p:nvPr>
            <p:ph type="sldNum" sz="quarter" idx="12"/>
          </p:nvPr>
        </p:nvSpPr>
        <p:spPr/>
        <p:txBody>
          <a:bodyPr/>
          <a:lstStyle/>
          <a:p>
            <a:fld id="{E77B3B79-2A23-46BF-893E-51527D99A7C7}" type="slidenum">
              <a:rPr lang="fr-FR" smtClean="0"/>
              <a:t>‹N°›</a:t>
            </a:fld>
            <a:endParaRPr lang="fr-FR"/>
          </a:p>
        </p:txBody>
      </p:sp>
    </p:spTree>
    <p:extLst>
      <p:ext uri="{BB962C8B-B14F-4D97-AF65-F5344CB8AC3E}">
        <p14:creationId xmlns:p14="http://schemas.microsoft.com/office/powerpoint/2010/main" val="2415200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892F4-DF73-C25A-FC04-653306867F9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572886E0-A5DF-DE10-A6CB-B6916C7F7B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1D62C83-B945-DCFE-D1E0-58D3C6D3E8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4EB12E3-636C-7569-F615-AD2C71684C20}"/>
              </a:ext>
            </a:extLst>
          </p:cNvPr>
          <p:cNvSpPr>
            <a:spLocks noGrp="1"/>
          </p:cNvSpPr>
          <p:nvPr>
            <p:ph type="dt" sz="half" idx="10"/>
          </p:nvPr>
        </p:nvSpPr>
        <p:spPr/>
        <p:txBody>
          <a:bodyPr/>
          <a:lstStyle/>
          <a:p>
            <a:fld id="{B1275688-4B01-4FD0-9E04-F4A2A060DD7F}" type="datetimeFigureOut">
              <a:rPr lang="fr-FR" smtClean="0"/>
              <a:t>09/01/2026</a:t>
            </a:fld>
            <a:endParaRPr lang="fr-FR"/>
          </a:p>
        </p:txBody>
      </p:sp>
      <p:sp>
        <p:nvSpPr>
          <p:cNvPr id="6" name="Espace réservé du pied de page 5">
            <a:extLst>
              <a:ext uri="{FF2B5EF4-FFF2-40B4-BE49-F238E27FC236}">
                <a16:creationId xmlns:a16="http://schemas.microsoft.com/office/drawing/2014/main" id="{E05EEFFB-49EE-5970-B374-929F4F4B728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6C1290F-8B94-5F00-AFFA-D271E9DB3EB5}"/>
              </a:ext>
            </a:extLst>
          </p:cNvPr>
          <p:cNvSpPr>
            <a:spLocks noGrp="1"/>
          </p:cNvSpPr>
          <p:nvPr>
            <p:ph type="sldNum" sz="quarter" idx="12"/>
          </p:nvPr>
        </p:nvSpPr>
        <p:spPr/>
        <p:txBody>
          <a:bodyPr/>
          <a:lstStyle/>
          <a:p>
            <a:fld id="{E77B3B79-2A23-46BF-893E-51527D99A7C7}" type="slidenum">
              <a:rPr lang="fr-FR" smtClean="0"/>
              <a:t>‹N°›</a:t>
            </a:fld>
            <a:endParaRPr lang="fr-FR"/>
          </a:p>
        </p:txBody>
      </p:sp>
    </p:spTree>
    <p:extLst>
      <p:ext uri="{BB962C8B-B14F-4D97-AF65-F5344CB8AC3E}">
        <p14:creationId xmlns:p14="http://schemas.microsoft.com/office/powerpoint/2010/main" val="81715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57F27B-7979-4303-D243-25D15181B9E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9ADFF95-2B51-FAD5-CDF6-F7885A31F91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8B3C4D2-69E2-3E2C-FC33-54D07F85F411}"/>
              </a:ext>
            </a:extLst>
          </p:cNvPr>
          <p:cNvSpPr>
            <a:spLocks noGrp="1"/>
          </p:cNvSpPr>
          <p:nvPr>
            <p:ph type="dt" sz="half" idx="10"/>
          </p:nvPr>
        </p:nvSpPr>
        <p:spPr/>
        <p:txBody>
          <a:bodyPr/>
          <a:lstStyle/>
          <a:p>
            <a:fld id="{B1275688-4B01-4FD0-9E04-F4A2A060DD7F}" type="datetimeFigureOut">
              <a:rPr lang="fr-FR" smtClean="0"/>
              <a:t>09/01/2026</a:t>
            </a:fld>
            <a:endParaRPr lang="fr-FR"/>
          </a:p>
        </p:txBody>
      </p:sp>
      <p:sp>
        <p:nvSpPr>
          <p:cNvPr id="5" name="Espace réservé du pied de page 4">
            <a:extLst>
              <a:ext uri="{FF2B5EF4-FFF2-40B4-BE49-F238E27FC236}">
                <a16:creationId xmlns:a16="http://schemas.microsoft.com/office/drawing/2014/main" id="{5C34BE71-76CE-868A-6A5D-48FA8A238E7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808C75C-B837-6564-D0CD-8D4B5A612B64}"/>
              </a:ext>
            </a:extLst>
          </p:cNvPr>
          <p:cNvSpPr>
            <a:spLocks noGrp="1"/>
          </p:cNvSpPr>
          <p:nvPr>
            <p:ph type="sldNum" sz="quarter" idx="12"/>
          </p:nvPr>
        </p:nvSpPr>
        <p:spPr/>
        <p:txBody>
          <a:bodyPr/>
          <a:lstStyle/>
          <a:p>
            <a:fld id="{E77B3B79-2A23-46BF-893E-51527D99A7C7}" type="slidenum">
              <a:rPr lang="fr-FR" smtClean="0"/>
              <a:t>‹N°›</a:t>
            </a:fld>
            <a:endParaRPr lang="fr-FR"/>
          </a:p>
        </p:txBody>
      </p:sp>
    </p:spTree>
    <p:extLst>
      <p:ext uri="{BB962C8B-B14F-4D97-AF65-F5344CB8AC3E}">
        <p14:creationId xmlns:p14="http://schemas.microsoft.com/office/powerpoint/2010/main" val="2584510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AB6B07F-E4F5-D436-FD3B-E681FC9C65A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9AF3BC7-C7BD-A4F6-7845-BB45C2FE689B}"/>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801ABA-CCE0-D070-21FF-43ED2BACF2E5}"/>
              </a:ext>
            </a:extLst>
          </p:cNvPr>
          <p:cNvSpPr>
            <a:spLocks noGrp="1"/>
          </p:cNvSpPr>
          <p:nvPr>
            <p:ph type="dt" sz="half" idx="10"/>
          </p:nvPr>
        </p:nvSpPr>
        <p:spPr/>
        <p:txBody>
          <a:bodyPr/>
          <a:lstStyle/>
          <a:p>
            <a:fld id="{B1275688-4B01-4FD0-9E04-F4A2A060DD7F}" type="datetimeFigureOut">
              <a:rPr lang="fr-FR" smtClean="0"/>
              <a:t>09/01/2026</a:t>
            </a:fld>
            <a:endParaRPr lang="fr-FR"/>
          </a:p>
        </p:txBody>
      </p:sp>
      <p:sp>
        <p:nvSpPr>
          <p:cNvPr id="5" name="Espace réservé du pied de page 4">
            <a:extLst>
              <a:ext uri="{FF2B5EF4-FFF2-40B4-BE49-F238E27FC236}">
                <a16:creationId xmlns:a16="http://schemas.microsoft.com/office/drawing/2014/main" id="{F4C7E4CD-8DB2-D757-17A9-7A09C8976FA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A74F587-1FC3-5806-715C-99A1DDF7A8E4}"/>
              </a:ext>
            </a:extLst>
          </p:cNvPr>
          <p:cNvSpPr>
            <a:spLocks noGrp="1"/>
          </p:cNvSpPr>
          <p:nvPr>
            <p:ph type="sldNum" sz="quarter" idx="12"/>
          </p:nvPr>
        </p:nvSpPr>
        <p:spPr/>
        <p:txBody>
          <a:bodyPr/>
          <a:lstStyle/>
          <a:p>
            <a:fld id="{E77B3B79-2A23-46BF-893E-51527D99A7C7}" type="slidenum">
              <a:rPr lang="fr-FR" smtClean="0"/>
              <a:t>‹N°›</a:t>
            </a:fld>
            <a:endParaRPr lang="fr-FR"/>
          </a:p>
        </p:txBody>
      </p:sp>
    </p:spTree>
    <p:extLst>
      <p:ext uri="{BB962C8B-B14F-4D97-AF65-F5344CB8AC3E}">
        <p14:creationId xmlns:p14="http://schemas.microsoft.com/office/powerpoint/2010/main" val="3978761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C08ADCA-5775-F857-9E06-FB6AE781A9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BB67F34-4C55-BC60-3996-D98F49EF83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2D516DA-0EB1-0D32-0838-492BC6D635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275688-4B01-4FD0-9E04-F4A2A060DD7F}" type="datetimeFigureOut">
              <a:rPr lang="fr-FR" smtClean="0"/>
              <a:t>09/01/2026</a:t>
            </a:fld>
            <a:endParaRPr lang="fr-FR"/>
          </a:p>
        </p:txBody>
      </p:sp>
      <p:sp>
        <p:nvSpPr>
          <p:cNvPr id="5" name="Espace réservé du pied de page 4">
            <a:extLst>
              <a:ext uri="{FF2B5EF4-FFF2-40B4-BE49-F238E27FC236}">
                <a16:creationId xmlns:a16="http://schemas.microsoft.com/office/drawing/2014/main" id="{03B5C81A-F807-8FBD-7FCD-3C3CFFF719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982D33EA-B48E-EF81-4311-2B9F80083A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7B3B79-2A23-46BF-893E-51527D99A7C7}" type="slidenum">
              <a:rPr lang="fr-FR" smtClean="0"/>
              <a:t>‹N°›</a:t>
            </a:fld>
            <a:endParaRPr lang="fr-FR"/>
          </a:p>
        </p:txBody>
      </p:sp>
    </p:spTree>
    <p:extLst>
      <p:ext uri="{BB962C8B-B14F-4D97-AF65-F5344CB8AC3E}">
        <p14:creationId xmlns:p14="http://schemas.microsoft.com/office/powerpoint/2010/main" val="3911344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C67EB1-7A76-3F3F-D5F9-D369F2679C54}"/>
              </a:ext>
            </a:extLst>
          </p:cNvPr>
          <p:cNvSpPr>
            <a:spLocks noGrp="1"/>
          </p:cNvSpPr>
          <p:nvPr>
            <p:ph type="ctrTitle"/>
          </p:nvPr>
        </p:nvSpPr>
        <p:spPr/>
        <p:txBody>
          <a:bodyPr/>
          <a:lstStyle/>
          <a:p>
            <a:r>
              <a:rPr lang="fr-FR" dirty="0"/>
              <a:t>Projet Seattle : Prédiction de Consommation &amp; Émissions</a:t>
            </a:r>
          </a:p>
        </p:txBody>
      </p:sp>
      <p:sp>
        <p:nvSpPr>
          <p:cNvPr id="3" name="Sous-titre 2">
            <a:extLst>
              <a:ext uri="{FF2B5EF4-FFF2-40B4-BE49-F238E27FC236}">
                <a16:creationId xmlns:a16="http://schemas.microsoft.com/office/drawing/2014/main" id="{50B31936-0BE9-3A49-B539-2EBFC38B952D}"/>
              </a:ext>
            </a:extLst>
          </p:cNvPr>
          <p:cNvSpPr>
            <a:spLocks noGrp="1"/>
          </p:cNvSpPr>
          <p:nvPr>
            <p:ph type="subTitle" idx="1"/>
          </p:nvPr>
        </p:nvSpPr>
        <p:spPr/>
        <p:txBody>
          <a:bodyPr/>
          <a:lstStyle/>
          <a:p>
            <a:r>
              <a:rPr lang="fr-FR" dirty="0"/>
              <a:t>Analyse Data Science &amp; Machine Learning</a:t>
            </a:r>
          </a:p>
          <a:p>
            <a:r>
              <a:rPr lang="fr-FR" dirty="0"/>
              <a:t>Objectif : Évaluer l'intérêt de l'</a:t>
            </a:r>
            <a:r>
              <a:rPr lang="fr-FR" dirty="0" err="1"/>
              <a:t>ENERGYSTARScore</a:t>
            </a:r>
            <a:endParaRPr lang="fr-FR"/>
          </a:p>
        </p:txBody>
      </p:sp>
    </p:spTree>
    <p:extLst>
      <p:ext uri="{BB962C8B-B14F-4D97-AF65-F5344CB8AC3E}">
        <p14:creationId xmlns:p14="http://schemas.microsoft.com/office/powerpoint/2010/main" val="3417232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D0D0A2-1A15-F512-5790-CC302341C64A}"/>
              </a:ext>
            </a:extLst>
          </p:cNvPr>
          <p:cNvSpPr>
            <a:spLocks noGrp="1"/>
          </p:cNvSpPr>
          <p:nvPr>
            <p:ph type="title"/>
          </p:nvPr>
        </p:nvSpPr>
        <p:spPr/>
        <p:txBody>
          <a:bodyPr/>
          <a:lstStyle/>
          <a:p>
            <a:r>
              <a:rPr lang="fr-FR" dirty="0"/>
              <a:t>1. Contexte &amp; Objectifs</a:t>
            </a:r>
          </a:p>
        </p:txBody>
      </p:sp>
      <p:sp>
        <p:nvSpPr>
          <p:cNvPr id="3" name="Espace réservé du contenu 2">
            <a:extLst>
              <a:ext uri="{FF2B5EF4-FFF2-40B4-BE49-F238E27FC236}">
                <a16:creationId xmlns:a16="http://schemas.microsoft.com/office/drawing/2014/main" id="{348B20EC-1909-5E62-819A-8274446B5B99}"/>
              </a:ext>
            </a:extLst>
          </p:cNvPr>
          <p:cNvSpPr>
            <a:spLocks noGrp="1"/>
          </p:cNvSpPr>
          <p:nvPr>
            <p:ph idx="1"/>
          </p:nvPr>
        </p:nvSpPr>
        <p:spPr/>
        <p:txBody>
          <a:bodyPr/>
          <a:lstStyle/>
          <a:p>
            <a:r>
              <a:rPr lang="fr-FR" dirty="0"/>
              <a:t>• Mission : Aider Seattle à atteindre la neutralité carbone d'ici 2050.</a:t>
            </a:r>
          </a:p>
          <a:p>
            <a:r>
              <a:rPr lang="fr-FR" dirty="0"/>
              <a:t>• Problématique : Les relevés physiques coûtent cher.</a:t>
            </a:r>
          </a:p>
          <a:p>
            <a:r>
              <a:rPr lang="fr-FR" dirty="0"/>
              <a:t>• But 1 : Prédire la consommation (</a:t>
            </a:r>
            <a:r>
              <a:rPr lang="fr-FR" dirty="0" err="1"/>
              <a:t>SiteEnergyUse</a:t>
            </a:r>
            <a:r>
              <a:rPr lang="fr-FR" dirty="0"/>
              <a:t>) et le CO2 (</a:t>
            </a:r>
            <a:r>
              <a:rPr lang="fr-FR" dirty="0" err="1"/>
              <a:t>GHGEmissions</a:t>
            </a:r>
            <a:r>
              <a:rPr lang="fr-FR" dirty="0"/>
              <a:t>).</a:t>
            </a:r>
          </a:p>
          <a:p>
            <a:r>
              <a:rPr lang="fr-FR" dirty="0"/>
              <a:t>• But 2 : Évaluer l'importance de l'</a:t>
            </a:r>
            <a:r>
              <a:rPr lang="fr-FR" dirty="0" err="1"/>
              <a:t>ENERGYSTARScore</a:t>
            </a:r>
            <a:r>
              <a:rPr lang="fr-FR" dirty="0"/>
              <a:t> dans ces prédictions.</a:t>
            </a:r>
          </a:p>
        </p:txBody>
      </p:sp>
    </p:spTree>
    <p:extLst>
      <p:ext uri="{BB962C8B-B14F-4D97-AF65-F5344CB8AC3E}">
        <p14:creationId xmlns:p14="http://schemas.microsoft.com/office/powerpoint/2010/main" val="2322592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445F7D-00A1-FA0B-2FDB-6C28D5C96269}"/>
              </a:ext>
            </a:extLst>
          </p:cNvPr>
          <p:cNvSpPr>
            <a:spLocks noGrp="1"/>
          </p:cNvSpPr>
          <p:nvPr>
            <p:ph type="title"/>
          </p:nvPr>
        </p:nvSpPr>
        <p:spPr/>
        <p:txBody>
          <a:bodyPr/>
          <a:lstStyle/>
          <a:p>
            <a:r>
              <a:rPr lang="fr-FR"/>
              <a:t>2. Préparation des Données</a:t>
            </a:r>
          </a:p>
        </p:txBody>
      </p:sp>
      <p:sp>
        <p:nvSpPr>
          <p:cNvPr id="3" name="Espace réservé du contenu 2">
            <a:extLst>
              <a:ext uri="{FF2B5EF4-FFF2-40B4-BE49-F238E27FC236}">
                <a16:creationId xmlns:a16="http://schemas.microsoft.com/office/drawing/2014/main" id="{91BFF086-2F05-532A-3C09-DF8BA5FE823C}"/>
              </a:ext>
            </a:extLst>
          </p:cNvPr>
          <p:cNvSpPr>
            <a:spLocks noGrp="1"/>
          </p:cNvSpPr>
          <p:nvPr>
            <p:ph idx="1"/>
          </p:nvPr>
        </p:nvSpPr>
        <p:spPr/>
        <p:txBody>
          <a:bodyPr/>
          <a:lstStyle/>
          <a:p>
            <a:r>
              <a:rPr lang="fr-FR"/>
              <a:t>• Filtrage : Focus sur le Non-Résidentiel (Bureaux, Hôtels, Écoles...).</a:t>
            </a:r>
          </a:p>
          <a:p>
            <a:r>
              <a:rPr lang="fr-FR"/>
              <a:t>• Feature Engineering :</a:t>
            </a:r>
          </a:p>
          <a:p>
            <a:r>
              <a:rPr lang="fr-FR"/>
              <a:t>    - Création de la variable 'BuildingAge'.</a:t>
            </a:r>
          </a:p>
          <a:p>
            <a:r>
              <a:rPr lang="fr-FR"/>
              <a:t>    - Transformation Logarithmique (Log1p) des cibles.</a:t>
            </a:r>
          </a:p>
          <a:p>
            <a:r>
              <a:rPr lang="fr-FR"/>
              <a:t>• Nettoyage : Suppression des outliers et imputations.</a:t>
            </a:r>
          </a:p>
          <a:p>
            <a:r>
              <a:rPr lang="fr-FR"/>
              <a:t>• Sélection Finale : 12 variables clés conservées.</a:t>
            </a:r>
          </a:p>
        </p:txBody>
      </p:sp>
    </p:spTree>
    <p:extLst>
      <p:ext uri="{BB962C8B-B14F-4D97-AF65-F5344CB8AC3E}">
        <p14:creationId xmlns:p14="http://schemas.microsoft.com/office/powerpoint/2010/main" val="183266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B7FA6D-6EF0-47B6-2273-BC8EDE7C569B}"/>
              </a:ext>
            </a:extLst>
          </p:cNvPr>
          <p:cNvSpPr>
            <a:spLocks noGrp="1"/>
          </p:cNvSpPr>
          <p:nvPr>
            <p:ph type="title"/>
          </p:nvPr>
        </p:nvSpPr>
        <p:spPr/>
        <p:txBody>
          <a:bodyPr/>
          <a:lstStyle/>
          <a:p>
            <a:r>
              <a:rPr lang="fr-FR"/>
              <a:t>3. Analyse Exploratoire</a:t>
            </a:r>
          </a:p>
        </p:txBody>
      </p:sp>
      <p:sp>
        <p:nvSpPr>
          <p:cNvPr id="3" name="Espace réservé du contenu 2">
            <a:extLst>
              <a:ext uri="{FF2B5EF4-FFF2-40B4-BE49-F238E27FC236}">
                <a16:creationId xmlns:a16="http://schemas.microsoft.com/office/drawing/2014/main" id="{72C8CBB4-8C06-DEA0-9249-C7C5C8C304FB}"/>
              </a:ext>
            </a:extLst>
          </p:cNvPr>
          <p:cNvSpPr>
            <a:spLocks noGrp="1"/>
          </p:cNvSpPr>
          <p:nvPr>
            <p:ph idx="1"/>
          </p:nvPr>
        </p:nvSpPr>
        <p:spPr/>
        <p:txBody>
          <a:bodyPr/>
          <a:lstStyle/>
          <a:p>
            <a:r>
              <a:rPr lang="fr-FR"/>
              <a:t>• Analyse de la Matrice de Corrélation (Pearson).</a:t>
            </a:r>
          </a:p>
          <a:p>
            <a:r>
              <a:rPr lang="fr-FR"/>
              <a:t>• Constat : Forte corrélation Surface / Consommation.</a:t>
            </a:r>
          </a:p>
          <a:p>
            <a:r>
              <a:rPr lang="fr-FR"/>
              <a:t>• Action : Suppression des variables colinéaires (doublons) pour éviter le bruit.</a:t>
            </a:r>
          </a:p>
          <a:p>
            <a:endParaRPr lang="fr-FR"/>
          </a:p>
          <a:p>
            <a:r>
              <a:rPr lang="fr-FR"/>
              <a:t>[COLLER ICI LA MATRICE DE CORRÉLATION]</a:t>
            </a:r>
          </a:p>
        </p:txBody>
      </p:sp>
    </p:spTree>
    <p:extLst>
      <p:ext uri="{BB962C8B-B14F-4D97-AF65-F5344CB8AC3E}">
        <p14:creationId xmlns:p14="http://schemas.microsoft.com/office/powerpoint/2010/main" val="3599326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266679-A481-4871-7BD6-56BEDBF487FC}"/>
              </a:ext>
            </a:extLst>
          </p:cNvPr>
          <p:cNvSpPr>
            <a:spLocks noGrp="1"/>
          </p:cNvSpPr>
          <p:nvPr>
            <p:ph type="title"/>
          </p:nvPr>
        </p:nvSpPr>
        <p:spPr/>
        <p:txBody>
          <a:bodyPr/>
          <a:lstStyle/>
          <a:p>
            <a:r>
              <a:rPr lang="fr-FR"/>
              <a:t>4. Stratégie de Modélisation</a:t>
            </a:r>
          </a:p>
        </p:txBody>
      </p:sp>
      <p:sp>
        <p:nvSpPr>
          <p:cNvPr id="3" name="Espace réservé du contenu 2">
            <a:extLst>
              <a:ext uri="{FF2B5EF4-FFF2-40B4-BE49-F238E27FC236}">
                <a16:creationId xmlns:a16="http://schemas.microsoft.com/office/drawing/2014/main" id="{66CEA2E8-2DAD-ED5B-1CD9-CEFD4F48A68E}"/>
              </a:ext>
            </a:extLst>
          </p:cNvPr>
          <p:cNvSpPr>
            <a:spLocks noGrp="1"/>
          </p:cNvSpPr>
          <p:nvPr>
            <p:ph idx="1"/>
          </p:nvPr>
        </p:nvSpPr>
        <p:spPr/>
        <p:txBody>
          <a:bodyPr/>
          <a:lstStyle/>
          <a:p>
            <a:r>
              <a:rPr lang="fr-FR"/>
              <a:t>• Séparation : Train (80%) / Test (20%) pour éviter le Data Leakage.</a:t>
            </a:r>
          </a:p>
          <a:p>
            <a:r>
              <a:rPr lang="fr-FR"/>
              <a:t>• Pipeline de traitement :</a:t>
            </a:r>
          </a:p>
          <a:p>
            <a:r>
              <a:rPr lang="fr-FR"/>
              <a:t>    - Standardisation (StandardScaler) pour les chiffres.</a:t>
            </a:r>
          </a:p>
          <a:p>
            <a:r>
              <a:rPr lang="fr-FR"/>
              <a:t>    - Encodage (OneHotEncoder) pour le texte (Quartiers, Types).</a:t>
            </a:r>
          </a:p>
          <a:p>
            <a:r>
              <a:rPr lang="fr-FR"/>
              <a:t>• Modèles comparés : Dummy (Moyenne), Régression Linéaire, Random Forest.</a:t>
            </a:r>
          </a:p>
        </p:txBody>
      </p:sp>
    </p:spTree>
    <p:extLst>
      <p:ext uri="{BB962C8B-B14F-4D97-AF65-F5344CB8AC3E}">
        <p14:creationId xmlns:p14="http://schemas.microsoft.com/office/powerpoint/2010/main" val="3175344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B940DC-28B6-EC46-1DB0-DC78633DDDBB}"/>
              </a:ext>
            </a:extLst>
          </p:cNvPr>
          <p:cNvSpPr>
            <a:spLocks noGrp="1"/>
          </p:cNvSpPr>
          <p:nvPr>
            <p:ph type="title"/>
          </p:nvPr>
        </p:nvSpPr>
        <p:spPr/>
        <p:txBody>
          <a:bodyPr/>
          <a:lstStyle/>
          <a:p>
            <a:r>
              <a:rPr lang="fr-FR"/>
              <a:t>5. Résultats : Consommation d'Énergie</a:t>
            </a:r>
          </a:p>
        </p:txBody>
      </p:sp>
      <p:sp>
        <p:nvSpPr>
          <p:cNvPr id="3" name="Espace réservé du contenu 2">
            <a:extLst>
              <a:ext uri="{FF2B5EF4-FFF2-40B4-BE49-F238E27FC236}">
                <a16:creationId xmlns:a16="http://schemas.microsoft.com/office/drawing/2014/main" id="{A9B18192-5568-0F70-2903-42534A638C12}"/>
              </a:ext>
            </a:extLst>
          </p:cNvPr>
          <p:cNvSpPr>
            <a:spLocks noGrp="1"/>
          </p:cNvSpPr>
          <p:nvPr>
            <p:ph idx="1"/>
          </p:nvPr>
        </p:nvSpPr>
        <p:spPr/>
        <p:txBody>
          <a:bodyPr/>
          <a:lstStyle/>
          <a:p>
            <a:r>
              <a:rPr lang="fr-FR"/>
              <a:t>• Dummy Regressor : R² ~ 0.00 (Inefficace).</a:t>
            </a:r>
          </a:p>
          <a:p>
            <a:r>
              <a:rPr lang="fr-FR"/>
              <a:t>• Régression Linéaire : R² ~ 0.15 (Trop simpliste).</a:t>
            </a:r>
          </a:p>
          <a:p>
            <a:r>
              <a:rPr lang="fr-FR"/>
              <a:t>• Random Forest : R² ~ 0.57 (Performance validée).</a:t>
            </a:r>
          </a:p>
          <a:p>
            <a:endParaRPr lang="fr-FR"/>
          </a:p>
          <a:p>
            <a:r>
              <a:rPr lang="fr-FR"/>
              <a:t>Conclusion : La consommation suit des règles non-linéaires complexes.</a:t>
            </a:r>
          </a:p>
        </p:txBody>
      </p:sp>
    </p:spTree>
    <p:extLst>
      <p:ext uri="{BB962C8B-B14F-4D97-AF65-F5344CB8AC3E}">
        <p14:creationId xmlns:p14="http://schemas.microsoft.com/office/powerpoint/2010/main" val="1094808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E99C52-3D4F-4BCA-8CCB-C9D15B9CDAFB}"/>
              </a:ext>
            </a:extLst>
          </p:cNvPr>
          <p:cNvSpPr>
            <a:spLocks noGrp="1"/>
          </p:cNvSpPr>
          <p:nvPr>
            <p:ph type="title"/>
          </p:nvPr>
        </p:nvSpPr>
        <p:spPr/>
        <p:txBody>
          <a:bodyPr/>
          <a:lstStyle/>
          <a:p>
            <a:r>
              <a:rPr lang="fr-FR"/>
              <a:t>6. Facteurs Clés (EnergyStar)</a:t>
            </a:r>
          </a:p>
        </p:txBody>
      </p:sp>
      <p:sp>
        <p:nvSpPr>
          <p:cNvPr id="3" name="Espace réservé du contenu 2">
            <a:extLst>
              <a:ext uri="{FF2B5EF4-FFF2-40B4-BE49-F238E27FC236}">
                <a16:creationId xmlns:a16="http://schemas.microsoft.com/office/drawing/2014/main" id="{2BED65AC-A116-70B9-6E14-E31AD0DEC8B6}"/>
              </a:ext>
            </a:extLst>
          </p:cNvPr>
          <p:cNvSpPr>
            <a:spLocks noGrp="1"/>
          </p:cNvSpPr>
          <p:nvPr>
            <p:ph idx="1"/>
          </p:nvPr>
        </p:nvSpPr>
        <p:spPr/>
        <p:txBody>
          <a:bodyPr/>
          <a:lstStyle/>
          <a:p>
            <a:r>
              <a:rPr lang="fr-FR"/>
              <a:t>• Analyse de l'importance des variables (Random Forest) :</a:t>
            </a:r>
          </a:p>
          <a:p>
            <a:r>
              <a:rPr lang="fr-FR"/>
              <a:t>    1. Surface Totale (Logique physique).</a:t>
            </a:r>
          </a:p>
          <a:p>
            <a:r>
              <a:rPr lang="fr-FR"/>
              <a:t>    2. ENERGYSTARScore (Levier d'efficacité).</a:t>
            </a:r>
          </a:p>
          <a:p>
            <a:endParaRPr lang="fr-FR"/>
          </a:p>
          <a:p>
            <a:r>
              <a:rPr lang="fr-FR"/>
              <a:t>[COLLER ICI GRAPHIQUE BARPLOT ÉNERGIE]</a:t>
            </a:r>
          </a:p>
        </p:txBody>
      </p:sp>
    </p:spTree>
    <p:extLst>
      <p:ext uri="{BB962C8B-B14F-4D97-AF65-F5344CB8AC3E}">
        <p14:creationId xmlns:p14="http://schemas.microsoft.com/office/powerpoint/2010/main" val="2129163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EBC7D0-8DAA-8579-2A94-A57AABCC8231}"/>
              </a:ext>
            </a:extLst>
          </p:cNvPr>
          <p:cNvSpPr>
            <a:spLocks noGrp="1"/>
          </p:cNvSpPr>
          <p:nvPr>
            <p:ph type="title"/>
          </p:nvPr>
        </p:nvSpPr>
        <p:spPr/>
        <p:txBody>
          <a:bodyPr/>
          <a:lstStyle/>
          <a:p>
            <a:r>
              <a:rPr lang="fr-FR"/>
              <a:t>7. Extension : Émissions de CO2</a:t>
            </a:r>
          </a:p>
        </p:txBody>
      </p:sp>
      <p:sp>
        <p:nvSpPr>
          <p:cNvPr id="3" name="Espace réservé du contenu 2">
            <a:extLst>
              <a:ext uri="{FF2B5EF4-FFF2-40B4-BE49-F238E27FC236}">
                <a16:creationId xmlns:a16="http://schemas.microsoft.com/office/drawing/2014/main" id="{3A1CA5F1-74CE-6A66-34F3-2A79ED7A18A5}"/>
              </a:ext>
            </a:extLst>
          </p:cNvPr>
          <p:cNvSpPr>
            <a:spLocks noGrp="1"/>
          </p:cNvSpPr>
          <p:nvPr>
            <p:ph idx="1"/>
          </p:nvPr>
        </p:nvSpPr>
        <p:spPr/>
        <p:txBody>
          <a:bodyPr/>
          <a:lstStyle/>
          <a:p>
            <a:r>
              <a:rPr lang="fr-FR"/>
              <a:t>• Performance : R² ~ 0.50 (Légèrement inférieur à l'énergie).</a:t>
            </a:r>
          </a:p>
          <a:p>
            <a:r>
              <a:rPr lang="fr-FR"/>
              <a:t>• Cause : Manque d'info précise sur le mix énergétique (Gaz vs Élec).</a:t>
            </a:r>
          </a:p>
          <a:p>
            <a:r>
              <a:rPr lang="fr-FR"/>
              <a:t>• Top Facteurs : Toujours Surface (1) et EnergyStar (2).</a:t>
            </a:r>
          </a:p>
          <a:p>
            <a:endParaRPr lang="fr-FR"/>
          </a:p>
          <a:p>
            <a:r>
              <a:rPr lang="fr-FR"/>
              <a:t>[COLLER ICI GRAPHIQUE BARPLOT CO2]</a:t>
            </a:r>
          </a:p>
        </p:txBody>
      </p:sp>
    </p:spTree>
    <p:extLst>
      <p:ext uri="{BB962C8B-B14F-4D97-AF65-F5344CB8AC3E}">
        <p14:creationId xmlns:p14="http://schemas.microsoft.com/office/powerpoint/2010/main" val="1466256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FD9C2E-ECF5-BFC1-BE82-E7CB6C4FF725}"/>
              </a:ext>
            </a:extLst>
          </p:cNvPr>
          <p:cNvSpPr>
            <a:spLocks noGrp="1"/>
          </p:cNvSpPr>
          <p:nvPr>
            <p:ph type="title"/>
          </p:nvPr>
        </p:nvSpPr>
        <p:spPr/>
        <p:txBody>
          <a:bodyPr/>
          <a:lstStyle/>
          <a:p>
            <a:r>
              <a:rPr lang="fr-FR"/>
              <a:t>8. Conclusion &amp; Recommandations</a:t>
            </a:r>
          </a:p>
        </p:txBody>
      </p:sp>
      <p:sp>
        <p:nvSpPr>
          <p:cNvPr id="3" name="Espace réservé du contenu 2">
            <a:extLst>
              <a:ext uri="{FF2B5EF4-FFF2-40B4-BE49-F238E27FC236}">
                <a16:creationId xmlns:a16="http://schemas.microsoft.com/office/drawing/2014/main" id="{6BEB63FE-D206-BA77-5538-674139097436}"/>
              </a:ext>
            </a:extLst>
          </p:cNvPr>
          <p:cNvSpPr>
            <a:spLocks noGrp="1"/>
          </p:cNvSpPr>
          <p:nvPr>
            <p:ph idx="1"/>
          </p:nvPr>
        </p:nvSpPr>
        <p:spPr/>
        <p:txBody>
          <a:bodyPr/>
          <a:lstStyle/>
          <a:p>
            <a:r>
              <a:rPr lang="fr-FR"/>
              <a:t>• Bilan Technique : Modèle Random Forest performant et validé.</a:t>
            </a:r>
          </a:p>
          <a:p>
            <a:r>
              <a:rPr lang="fr-FR"/>
              <a:t>• Réponse Métier : L'ENERGYSTARScore est essentiel.</a:t>
            </a:r>
          </a:p>
          <a:p>
            <a:r>
              <a:rPr lang="fr-FR"/>
              <a:t>• Recommandation : La ville de Seattle DOIT continuer à relever ce score pour ses futurs modèles prédictifs.</a:t>
            </a:r>
          </a:p>
        </p:txBody>
      </p:sp>
    </p:spTree>
    <p:extLst>
      <p:ext uri="{BB962C8B-B14F-4D97-AF65-F5344CB8AC3E}">
        <p14:creationId xmlns:p14="http://schemas.microsoft.com/office/powerpoint/2010/main" val="894567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977281-448B-ABAA-DFB3-9CAB99205783}"/>
              </a:ext>
            </a:extLst>
          </p:cNvPr>
          <p:cNvSpPr>
            <a:spLocks noGrp="1"/>
          </p:cNvSpPr>
          <p:nvPr>
            <p:ph type="ctrTitle"/>
          </p:nvPr>
        </p:nvSpPr>
        <p:spPr/>
        <p:txBody>
          <a:bodyPr/>
          <a:lstStyle/>
          <a:p>
            <a:endParaRPr lang="fr-FR"/>
          </a:p>
        </p:txBody>
      </p:sp>
      <p:sp>
        <p:nvSpPr>
          <p:cNvPr id="3" name="Sous-titre 2">
            <a:extLst>
              <a:ext uri="{FF2B5EF4-FFF2-40B4-BE49-F238E27FC236}">
                <a16:creationId xmlns:a16="http://schemas.microsoft.com/office/drawing/2014/main" id="{FD64AC6D-30B4-FF87-24BB-C0E2E6226825}"/>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49200463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943</Words>
  <Application>Microsoft Office PowerPoint</Application>
  <PresentationFormat>Grand écran</PresentationFormat>
  <Paragraphs>76</Paragraphs>
  <Slides>10</Slides>
  <Notes>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Aptos</vt:lpstr>
      <vt:lpstr>Aptos Display</vt:lpstr>
      <vt:lpstr>Arial</vt:lpstr>
      <vt:lpstr>Thème Office</vt:lpstr>
      <vt:lpstr>Projet Seattle : Prédiction de Consommation &amp; Émissions</vt:lpstr>
      <vt:lpstr>1. Contexte &amp; Objectifs</vt:lpstr>
      <vt:lpstr>2. Préparation des Données</vt:lpstr>
      <vt:lpstr>3. Analyse Exploratoire</vt:lpstr>
      <vt:lpstr>4. Stratégie de Modélisation</vt:lpstr>
      <vt:lpstr>5. Résultats : Consommation d'Énergie</vt:lpstr>
      <vt:lpstr>6. Facteurs Clés (EnergyStar)</vt:lpstr>
      <vt:lpstr>7. Extension : Émissions de CO2</vt:lpstr>
      <vt:lpstr>8. Conclusion &amp; Recommandations</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Travail</dc:creator>
  <cp:lastModifiedBy>Travail</cp:lastModifiedBy>
  <cp:revision>1</cp:revision>
  <dcterms:created xsi:type="dcterms:W3CDTF">2026-01-09T13:28:01Z</dcterms:created>
  <dcterms:modified xsi:type="dcterms:W3CDTF">2026-01-09T13:28:08Z</dcterms:modified>
</cp:coreProperties>
</file>